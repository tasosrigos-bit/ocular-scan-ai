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60" r:id="rId4"/>
    <p:sldId id="269" r:id="rId5"/>
    <p:sldId id="261" r:id="rId6"/>
    <p:sldId id="259" r:id="rId7"/>
    <p:sldId id="273" r:id="rId8"/>
    <p:sldId id="263" r:id="rId9"/>
    <p:sldId id="274" r:id="rId10"/>
    <p:sldId id="264" r:id="rId11"/>
    <p:sldId id="270" r:id="rId12"/>
    <p:sldId id="276" r:id="rId13"/>
    <p:sldId id="275" r:id="rId14"/>
    <p:sldId id="277" r:id="rId15"/>
    <p:sldId id="257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468" dt="2026-09-06T03:38:16.131"/>
    <p1510:client id="{AC5AEDE1-7FAD-27A6-601E-EC49BE9C991F}" v="598" dt="2026-09-05T19:53:51.163"/>
    <p1510:client id="{F9AF804F-332B-2196-61B8-7DB44DEE9344}" v="301" dt="2026-09-05T23:03:03.8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ADA299-C424-4DE0-8C39-F1168857FAC9}" type="doc">
      <dgm:prSet loTypeId="urn:microsoft.com/office/officeart/2005/8/layout/list1" loCatId="list" qsTypeId="urn:microsoft.com/office/officeart/2005/8/quickstyle/simple2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CCFD8F5-83BF-4DAD-8F83-68A7B25E3774}">
      <dgm:prSet/>
      <dgm:spPr/>
      <dgm:t>
        <a:bodyPr/>
        <a:lstStyle/>
        <a:p>
          <a:r>
            <a:rPr lang="en-US" b="1"/>
            <a:t>Our Experiment</a:t>
          </a:r>
          <a:endParaRPr lang="en-US"/>
        </a:p>
      </dgm:t>
    </dgm:pt>
    <dgm:pt modelId="{6B453D6A-BBD3-40BB-8B75-803224A861CE}" type="parTrans" cxnId="{6ACFB6B4-BA38-4C5C-B955-811B937ACC2C}">
      <dgm:prSet/>
      <dgm:spPr/>
      <dgm:t>
        <a:bodyPr/>
        <a:lstStyle/>
        <a:p>
          <a:endParaRPr lang="en-US"/>
        </a:p>
      </dgm:t>
    </dgm:pt>
    <dgm:pt modelId="{9CFB6E58-6085-40E9-AA1D-079B3A19369C}" type="sibTrans" cxnId="{6ACFB6B4-BA38-4C5C-B955-811B937ACC2C}">
      <dgm:prSet/>
      <dgm:spPr/>
      <dgm:t>
        <a:bodyPr/>
        <a:lstStyle/>
        <a:p>
          <a:endParaRPr lang="en-US"/>
        </a:p>
      </dgm:t>
    </dgm:pt>
    <dgm:pt modelId="{84C992C8-A8F2-488A-939A-B8203653E919}">
      <dgm:prSet/>
      <dgm:spPr/>
      <dgm:t>
        <a:bodyPr/>
        <a:lstStyle/>
        <a:p>
          <a:r>
            <a:rPr lang="en-US"/>
            <a:t>Different dataset</a:t>
          </a:r>
        </a:p>
      </dgm:t>
    </dgm:pt>
    <dgm:pt modelId="{208F8AC4-FE52-4B29-87EA-317512F72985}" type="parTrans" cxnId="{12B92ECA-1E29-4406-A9D9-29EB1C15BEDF}">
      <dgm:prSet/>
      <dgm:spPr/>
      <dgm:t>
        <a:bodyPr/>
        <a:lstStyle/>
        <a:p>
          <a:endParaRPr lang="en-US"/>
        </a:p>
      </dgm:t>
    </dgm:pt>
    <dgm:pt modelId="{99B955B3-6DBA-4640-8E9B-FB3EF2BB8C4F}" type="sibTrans" cxnId="{12B92ECA-1E29-4406-A9D9-29EB1C15BEDF}">
      <dgm:prSet/>
      <dgm:spPr/>
      <dgm:t>
        <a:bodyPr/>
        <a:lstStyle/>
        <a:p>
          <a:endParaRPr lang="en-US"/>
        </a:p>
      </dgm:t>
    </dgm:pt>
    <dgm:pt modelId="{CF00FEF6-6979-413C-8E8F-5233F1C9A8F5}">
      <dgm:prSet/>
      <dgm:spPr/>
      <dgm:t>
        <a:bodyPr/>
        <a:lstStyle/>
        <a:p>
          <a:r>
            <a:rPr lang="en-US"/>
            <a:t>Model failure in spotting scanner not disease</a:t>
          </a:r>
        </a:p>
      </dgm:t>
    </dgm:pt>
    <dgm:pt modelId="{FC95F820-2E59-483F-8F2C-072FC07B368D}" type="parTrans" cxnId="{69978C7A-6470-4787-806D-BEF706519261}">
      <dgm:prSet/>
      <dgm:spPr/>
      <dgm:t>
        <a:bodyPr/>
        <a:lstStyle/>
        <a:p>
          <a:endParaRPr lang="en-US"/>
        </a:p>
      </dgm:t>
    </dgm:pt>
    <dgm:pt modelId="{C6403EDB-4B1F-4B69-9A07-B494C76055D4}" type="sibTrans" cxnId="{69978C7A-6470-4787-806D-BEF706519261}">
      <dgm:prSet/>
      <dgm:spPr/>
      <dgm:t>
        <a:bodyPr/>
        <a:lstStyle/>
        <a:p>
          <a:endParaRPr lang="en-US"/>
        </a:p>
      </dgm:t>
    </dgm:pt>
    <dgm:pt modelId="{C6D62B51-B4BB-48FD-8980-5972B33E2D90}">
      <dgm:prSet/>
      <dgm:spPr/>
      <dgm:t>
        <a:bodyPr/>
        <a:lstStyle/>
        <a:p>
          <a:r>
            <a:rPr lang="en-US" b="1"/>
            <a:t>Our Reconstruction</a:t>
          </a:r>
          <a:endParaRPr lang="en-US"/>
        </a:p>
      </dgm:t>
    </dgm:pt>
    <dgm:pt modelId="{1C93117C-3F34-495D-B708-68AB6E711913}" type="parTrans" cxnId="{FAE2A686-B3F6-4C6E-B9F1-8622FF9A57A6}">
      <dgm:prSet/>
      <dgm:spPr/>
      <dgm:t>
        <a:bodyPr/>
        <a:lstStyle/>
        <a:p>
          <a:endParaRPr lang="en-US"/>
        </a:p>
      </dgm:t>
    </dgm:pt>
    <dgm:pt modelId="{6883F195-4A57-4097-B10C-2F55994F9EBA}" type="sibTrans" cxnId="{FAE2A686-B3F6-4C6E-B9F1-8622FF9A57A6}">
      <dgm:prSet/>
      <dgm:spPr/>
      <dgm:t>
        <a:bodyPr/>
        <a:lstStyle/>
        <a:p>
          <a:endParaRPr lang="en-US"/>
        </a:p>
      </dgm:t>
    </dgm:pt>
    <dgm:pt modelId="{F32841C9-FE78-4A0A-8F53-43077197423D}">
      <dgm:prSet/>
      <dgm:spPr/>
      <dgm:t>
        <a:bodyPr/>
        <a:lstStyle/>
        <a:p>
          <a:r>
            <a:rPr lang="en-US"/>
            <a:t>Examined on training set imbalance with class weights</a:t>
          </a:r>
        </a:p>
      </dgm:t>
    </dgm:pt>
    <dgm:pt modelId="{7D4BD63B-56C5-49C5-AB63-6B692B02EAFF}" type="parTrans" cxnId="{D54C7A73-336B-4436-BC15-880036FA435D}">
      <dgm:prSet/>
      <dgm:spPr/>
      <dgm:t>
        <a:bodyPr/>
        <a:lstStyle/>
        <a:p>
          <a:endParaRPr lang="en-US"/>
        </a:p>
      </dgm:t>
    </dgm:pt>
    <dgm:pt modelId="{38919E86-AB42-45A5-9127-C40AB5D59BFB}" type="sibTrans" cxnId="{D54C7A73-336B-4436-BC15-880036FA435D}">
      <dgm:prSet/>
      <dgm:spPr/>
      <dgm:t>
        <a:bodyPr/>
        <a:lstStyle/>
        <a:p>
          <a:endParaRPr lang="en-US"/>
        </a:p>
      </dgm:t>
    </dgm:pt>
    <dgm:pt modelId="{3B4032E6-3869-4B3D-8F78-22477068C5D4}">
      <dgm:prSet/>
      <dgm:spPr/>
      <dgm:t>
        <a:bodyPr/>
        <a:lstStyle/>
        <a:p>
          <a:r>
            <a:rPr lang="en-US"/>
            <a:t>Rebuilt patient leakage data split</a:t>
          </a:r>
        </a:p>
      </dgm:t>
    </dgm:pt>
    <dgm:pt modelId="{6AD76F92-2BDF-42DF-B347-61CFFBEAECD5}" type="parTrans" cxnId="{47090DC0-58F8-408D-8570-4175DFC124D3}">
      <dgm:prSet/>
      <dgm:spPr/>
      <dgm:t>
        <a:bodyPr/>
        <a:lstStyle/>
        <a:p>
          <a:endParaRPr lang="en-US"/>
        </a:p>
      </dgm:t>
    </dgm:pt>
    <dgm:pt modelId="{329C88AA-4135-4DC6-90DA-AA6287878399}" type="sibTrans" cxnId="{47090DC0-58F8-408D-8570-4175DFC124D3}">
      <dgm:prSet/>
      <dgm:spPr/>
      <dgm:t>
        <a:bodyPr/>
        <a:lstStyle/>
        <a:p>
          <a:endParaRPr lang="en-US"/>
        </a:p>
      </dgm:t>
    </dgm:pt>
    <dgm:pt modelId="{7098E6BC-61AF-4639-AC13-C79137515F10}">
      <dgm:prSet/>
      <dgm:spPr/>
      <dgm:t>
        <a:bodyPr/>
        <a:lstStyle/>
        <a:p>
          <a:r>
            <a:rPr lang="en-US"/>
            <a:t>Normalized inconsistent image sizes</a:t>
          </a:r>
        </a:p>
      </dgm:t>
    </dgm:pt>
    <dgm:pt modelId="{D2552163-30B3-4301-9862-64E749DF7C98}" type="parTrans" cxnId="{89D5A13D-189A-4A58-BC2A-BF5C0A428F5E}">
      <dgm:prSet/>
      <dgm:spPr/>
      <dgm:t>
        <a:bodyPr/>
        <a:lstStyle/>
        <a:p>
          <a:endParaRPr lang="en-US"/>
        </a:p>
      </dgm:t>
    </dgm:pt>
    <dgm:pt modelId="{4765E25B-6101-4133-9128-0EBE73B7EEFA}" type="sibTrans" cxnId="{89D5A13D-189A-4A58-BC2A-BF5C0A428F5E}">
      <dgm:prSet/>
      <dgm:spPr/>
      <dgm:t>
        <a:bodyPr/>
        <a:lstStyle/>
        <a:p>
          <a:endParaRPr lang="en-US"/>
        </a:p>
      </dgm:t>
    </dgm:pt>
    <dgm:pt modelId="{4CFC8F29-DC21-4CFE-A5A1-E1A84DE01210}">
      <dgm:prSet/>
      <dgm:spPr/>
      <dgm:t>
        <a:bodyPr/>
        <a:lstStyle/>
        <a:p>
          <a:r>
            <a:rPr lang="en-US"/>
            <a:t>Fast screening subsample on 12k images. </a:t>
          </a:r>
        </a:p>
      </dgm:t>
    </dgm:pt>
    <dgm:pt modelId="{B1B29A5C-1685-41BA-A250-B875347AE2D1}" type="parTrans" cxnId="{D9A93EE6-40D5-410E-BCD2-E70B6250342E}">
      <dgm:prSet/>
      <dgm:spPr/>
      <dgm:t>
        <a:bodyPr/>
        <a:lstStyle/>
        <a:p>
          <a:endParaRPr lang="en-US"/>
        </a:p>
      </dgm:t>
    </dgm:pt>
    <dgm:pt modelId="{A3BEFD3F-9E11-4F7B-BCC3-010EC6F808E1}" type="sibTrans" cxnId="{D9A93EE6-40D5-410E-BCD2-E70B6250342E}">
      <dgm:prSet/>
      <dgm:spPr/>
      <dgm:t>
        <a:bodyPr/>
        <a:lstStyle/>
        <a:p>
          <a:endParaRPr lang="en-US"/>
        </a:p>
      </dgm:t>
    </dgm:pt>
    <dgm:pt modelId="{EA435379-33DE-4A97-BCB0-1472B8EE6C3A}" type="pres">
      <dgm:prSet presAssocID="{A2ADA299-C424-4DE0-8C39-F1168857FAC9}" presName="linear" presStyleCnt="0">
        <dgm:presLayoutVars>
          <dgm:dir/>
          <dgm:animLvl val="lvl"/>
          <dgm:resizeHandles val="exact"/>
        </dgm:presLayoutVars>
      </dgm:prSet>
      <dgm:spPr/>
    </dgm:pt>
    <dgm:pt modelId="{D1C2B49A-B3CC-4A70-99A6-C5BAEC0F749C}" type="pres">
      <dgm:prSet presAssocID="{6CCFD8F5-83BF-4DAD-8F83-68A7B25E3774}" presName="parentLin" presStyleCnt="0"/>
      <dgm:spPr/>
    </dgm:pt>
    <dgm:pt modelId="{93139FBC-2CE7-44C0-89CC-E3A93FB16838}" type="pres">
      <dgm:prSet presAssocID="{6CCFD8F5-83BF-4DAD-8F83-68A7B25E3774}" presName="parentLeftMargin" presStyleLbl="node1" presStyleIdx="0" presStyleCnt="2"/>
      <dgm:spPr/>
    </dgm:pt>
    <dgm:pt modelId="{3C3CD669-7AD9-4A31-9CEB-F48971272090}" type="pres">
      <dgm:prSet presAssocID="{6CCFD8F5-83BF-4DAD-8F83-68A7B25E377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5E4CD0F-8239-4709-9F84-5C1BF8BA05A8}" type="pres">
      <dgm:prSet presAssocID="{6CCFD8F5-83BF-4DAD-8F83-68A7B25E3774}" presName="negativeSpace" presStyleCnt="0"/>
      <dgm:spPr/>
    </dgm:pt>
    <dgm:pt modelId="{791A5A38-AB2B-4E03-957E-586D0C1D4D5E}" type="pres">
      <dgm:prSet presAssocID="{6CCFD8F5-83BF-4DAD-8F83-68A7B25E3774}" presName="childText" presStyleLbl="conFgAcc1" presStyleIdx="0" presStyleCnt="2">
        <dgm:presLayoutVars>
          <dgm:bulletEnabled val="1"/>
        </dgm:presLayoutVars>
      </dgm:prSet>
      <dgm:spPr/>
    </dgm:pt>
    <dgm:pt modelId="{89DB9EED-9FD2-43FD-880D-809652C1B2F6}" type="pres">
      <dgm:prSet presAssocID="{9CFB6E58-6085-40E9-AA1D-079B3A19369C}" presName="spaceBetweenRectangles" presStyleCnt="0"/>
      <dgm:spPr/>
    </dgm:pt>
    <dgm:pt modelId="{C5AC0950-36BA-47C9-A31D-A2EF263D1AAE}" type="pres">
      <dgm:prSet presAssocID="{C6D62B51-B4BB-48FD-8980-5972B33E2D90}" presName="parentLin" presStyleCnt="0"/>
      <dgm:spPr/>
    </dgm:pt>
    <dgm:pt modelId="{509A1B9E-B100-4345-B3D6-F07D3DCA4B4D}" type="pres">
      <dgm:prSet presAssocID="{C6D62B51-B4BB-48FD-8980-5972B33E2D90}" presName="parentLeftMargin" presStyleLbl="node1" presStyleIdx="0" presStyleCnt="2"/>
      <dgm:spPr/>
    </dgm:pt>
    <dgm:pt modelId="{958F76E9-052D-443C-ACA9-4B22352ADE0E}" type="pres">
      <dgm:prSet presAssocID="{C6D62B51-B4BB-48FD-8980-5972B33E2D9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1A49ABA-AAA9-4705-86D6-B85DA6FA9E12}" type="pres">
      <dgm:prSet presAssocID="{C6D62B51-B4BB-48FD-8980-5972B33E2D90}" presName="negativeSpace" presStyleCnt="0"/>
      <dgm:spPr/>
    </dgm:pt>
    <dgm:pt modelId="{C02EB144-D6FE-40FF-8692-5840ECC3152B}" type="pres">
      <dgm:prSet presAssocID="{C6D62B51-B4BB-48FD-8980-5972B33E2D90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AECF603-85CB-410C-B1B8-F89B19CBBB5F}" type="presOf" srcId="{A2ADA299-C424-4DE0-8C39-F1168857FAC9}" destId="{EA435379-33DE-4A97-BCB0-1472B8EE6C3A}" srcOrd="0" destOrd="0" presId="urn:microsoft.com/office/officeart/2005/8/layout/list1"/>
    <dgm:cxn modelId="{9A050B09-51A5-49F2-A65C-CD33727ED18F}" type="presOf" srcId="{6CCFD8F5-83BF-4DAD-8F83-68A7B25E3774}" destId="{3C3CD669-7AD9-4A31-9CEB-F48971272090}" srcOrd="1" destOrd="0" presId="urn:microsoft.com/office/officeart/2005/8/layout/list1"/>
    <dgm:cxn modelId="{B3959010-DFA9-41CE-B229-6D14091173FD}" type="presOf" srcId="{F32841C9-FE78-4A0A-8F53-43077197423D}" destId="{C02EB144-D6FE-40FF-8692-5840ECC3152B}" srcOrd="0" destOrd="0" presId="urn:microsoft.com/office/officeart/2005/8/layout/list1"/>
    <dgm:cxn modelId="{6070D71C-D39C-4149-879C-2CF7E64EF3BB}" type="presOf" srcId="{84C992C8-A8F2-488A-939A-B8203653E919}" destId="{791A5A38-AB2B-4E03-957E-586D0C1D4D5E}" srcOrd="0" destOrd="0" presId="urn:microsoft.com/office/officeart/2005/8/layout/list1"/>
    <dgm:cxn modelId="{89D5A13D-189A-4A58-BC2A-BF5C0A428F5E}" srcId="{C6D62B51-B4BB-48FD-8980-5972B33E2D90}" destId="{7098E6BC-61AF-4639-AC13-C79137515F10}" srcOrd="2" destOrd="0" parTransId="{D2552163-30B3-4301-9862-64E749DF7C98}" sibTransId="{4765E25B-6101-4133-9128-0EBE73B7EEFA}"/>
    <dgm:cxn modelId="{819E4847-D36D-44B4-BC47-F9BFE6DC9720}" type="presOf" srcId="{4CFC8F29-DC21-4CFE-A5A1-E1A84DE01210}" destId="{C02EB144-D6FE-40FF-8692-5840ECC3152B}" srcOrd="0" destOrd="3" presId="urn:microsoft.com/office/officeart/2005/8/layout/list1"/>
    <dgm:cxn modelId="{D54C7A73-336B-4436-BC15-880036FA435D}" srcId="{C6D62B51-B4BB-48FD-8980-5972B33E2D90}" destId="{F32841C9-FE78-4A0A-8F53-43077197423D}" srcOrd="0" destOrd="0" parTransId="{7D4BD63B-56C5-49C5-AB63-6B692B02EAFF}" sibTransId="{38919E86-AB42-45A5-9127-C40AB5D59BFB}"/>
    <dgm:cxn modelId="{B94FF077-CC0C-4DF5-ADF4-5F17F82A348D}" type="presOf" srcId="{C6D62B51-B4BB-48FD-8980-5972B33E2D90}" destId="{509A1B9E-B100-4345-B3D6-F07D3DCA4B4D}" srcOrd="0" destOrd="0" presId="urn:microsoft.com/office/officeart/2005/8/layout/list1"/>
    <dgm:cxn modelId="{69978C7A-6470-4787-806D-BEF706519261}" srcId="{6CCFD8F5-83BF-4DAD-8F83-68A7B25E3774}" destId="{CF00FEF6-6979-413C-8E8F-5233F1C9A8F5}" srcOrd="1" destOrd="0" parTransId="{FC95F820-2E59-483F-8F2C-072FC07B368D}" sibTransId="{C6403EDB-4B1F-4B69-9A07-B494C76055D4}"/>
    <dgm:cxn modelId="{245C677F-79AD-405C-B256-21CABD03917A}" type="presOf" srcId="{7098E6BC-61AF-4639-AC13-C79137515F10}" destId="{C02EB144-D6FE-40FF-8692-5840ECC3152B}" srcOrd="0" destOrd="2" presId="urn:microsoft.com/office/officeart/2005/8/layout/list1"/>
    <dgm:cxn modelId="{98DFCE7F-8CE0-45C3-A65C-F7EC04B91C26}" type="presOf" srcId="{CF00FEF6-6979-413C-8E8F-5233F1C9A8F5}" destId="{791A5A38-AB2B-4E03-957E-586D0C1D4D5E}" srcOrd="0" destOrd="1" presId="urn:microsoft.com/office/officeart/2005/8/layout/list1"/>
    <dgm:cxn modelId="{FAE2A686-B3F6-4C6E-B9F1-8622FF9A57A6}" srcId="{A2ADA299-C424-4DE0-8C39-F1168857FAC9}" destId="{C6D62B51-B4BB-48FD-8980-5972B33E2D90}" srcOrd="1" destOrd="0" parTransId="{1C93117C-3F34-495D-B708-68AB6E711913}" sibTransId="{6883F195-4A57-4097-B10C-2F55994F9EBA}"/>
    <dgm:cxn modelId="{6ACFB6B4-BA38-4C5C-B955-811B937ACC2C}" srcId="{A2ADA299-C424-4DE0-8C39-F1168857FAC9}" destId="{6CCFD8F5-83BF-4DAD-8F83-68A7B25E3774}" srcOrd="0" destOrd="0" parTransId="{6B453D6A-BBD3-40BB-8B75-803224A861CE}" sibTransId="{9CFB6E58-6085-40E9-AA1D-079B3A19369C}"/>
    <dgm:cxn modelId="{47090DC0-58F8-408D-8570-4175DFC124D3}" srcId="{C6D62B51-B4BB-48FD-8980-5972B33E2D90}" destId="{3B4032E6-3869-4B3D-8F78-22477068C5D4}" srcOrd="1" destOrd="0" parTransId="{6AD76F92-2BDF-42DF-B347-61CFFBEAECD5}" sibTransId="{329C88AA-4135-4DC6-90DA-AA6287878399}"/>
    <dgm:cxn modelId="{80252AC2-B19A-4BFA-944D-AE20CF12B736}" type="presOf" srcId="{C6D62B51-B4BB-48FD-8980-5972B33E2D90}" destId="{958F76E9-052D-443C-ACA9-4B22352ADE0E}" srcOrd="1" destOrd="0" presId="urn:microsoft.com/office/officeart/2005/8/layout/list1"/>
    <dgm:cxn modelId="{12B92ECA-1E29-4406-A9D9-29EB1C15BEDF}" srcId="{6CCFD8F5-83BF-4DAD-8F83-68A7B25E3774}" destId="{84C992C8-A8F2-488A-939A-B8203653E919}" srcOrd="0" destOrd="0" parTransId="{208F8AC4-FE52-4B29-87EA-317512F72985}" sibTransId="{99B955B3-6DBA-4640-8E9B-FB3EF2BB8C4F}"/>
    <dgm:cxn modelId="{AC3AA1D2-06C3-48E6-8A8F-DFD57C66631E}" type="presOf" srcId="{3B4032E6-3869-4B3D-8F78-22477068C5D4}" destId="{C02EB144-D6FE-40FF-8692-5840ECC3152B}" srcOrd="0" destOrd="1" presId="urn:microsoft.com/office/officeart/2005/8/layout/list1"/>
    <dgm:cxn modelId="{DC9125D5-17C9-4A97-BF13-4B026E404A15}" type="presOf" srcId="{6CCFD8F5-83BF-4DAD-8F83-68A7B25E3774}" destId="{93139FBC-2CE7-44C0-89CC-E3A93FB16838}" srcOrd="0" destOrd="0" presId="urn:microsoft.com/office/officeart/2005/8/layout/list1"/>
    <dgm:cxn modelId="{D9A93EE6-40D5-410E-BCD2-E70B6250342E}" srcId="{C6D62B51-B4BB-48FD-8980-5972B33E2D90}" destId="{4CFC8F29-DC21-4CFE-A5A1-E1A84DE01210}" srcOrd="3" destOrd="0" parTransId="{B1B29A5C-1685-41BA-A250-B875347AE2D1}" sibTransId="{A3BEFD3F-9E11-4F7B-BCC3-010EC6F808E1}"/>
    <dgm:cxn modelId="{9401F931-0979-4278-B248-95B1D5D5A9C4}" type="presParOf" srcId="{EA435379-33DE-4A97-BCB0-1472B8EE6C3A}" destId="{D1C2B49A-B3CC-4A70-99A6-C5BAEC0F749C}" srcOrd="0" destOrd="0" presId="urn:microsoft.com/office/officeart/2005/8/layout/list1"/>
    <dgm:cxn modelId="{A1486FE3-3895-4D88-A610-8FB08A9B2F7E}" type="presParOf" srcId="{D1C2B49A-B3CC-4A70-99A6-C5BAEC0F749C}" destId="{93139FBC-2CE7-44C0-89CC-E3A93FB16838}" srcOrd="0" destOrd="0" presId="urn:microsoft.com/office/officeart/2005/8/layout/list1"/>
    <dgm:cxn modelId="{8B9D8E97-917A-41F4-85F9-0D0468B57AFF}" type="presParOf" srcId="{D1C2B49A-B3CC-4A70-99A6-C5BAEC0F749C}" destId="{3C3CD669-7AD9-4A31-9CEB-F48971272090}" srcOrd="1" destOrd="0" presId="urn:microsoft.com/office/officeart/2005/8/layout/list1"/>
    <dgm:cxn modelId="{85F45A55-CB41-4505-9014-9F41DDBC0912}" type="presParOf" srcId="{EA435379-33DE-4A97-BCB0-1472B8EE6C3A}" destId="{35E4CD0F-8239-4709-9F84-5C1BF8BA05A8}" srcOrd="1" destOrd="0" presId="urn:microsoft.com/office/officeart/2005/8/layout/list1"/>
    <dgm:cxn modelId="{CD60CDF6-18EE-4184-8F87-34AF5548E865}" type="presParOf" srcId="{EA435379-33DE-4A97-BCB0-1472B8EE6C3A}" destId="{791A5A38-AB2B-4E03-957E-586D0C1D4D5E}" srcOrd="2" destOrd="0" presId="urn:microsoft.com/office/officeart/2005/8/layout/list1"/>
    <dgm:cxn modelId="{6814AA41-8C69-4763-B7E8-B691FF14D77B}" type="presParOf" srcId="{EA435379-33DE-4A97-BCB0-1472B8EE6C3A}" destId="{89DB9EED-9FD2-43FD-880D-809652C1B2F6}" srcOrd="3" destOrd="0" presId="urn:microsoft.com/office/officeart/2005/8/layout/list1"/>
    <dgm:cxn modelId="{4FCF6BAB-94F9-4882-902F-63313B1DDAC0}" type="presParOf" srcId="{EA435379-33DE-4A97-BCB0-1472B8EE6C3A}" destId="{C5AC0950-36BA-47C9-A31D-A2EF263D1AAE}" srcOrd="4" destOrd="0" presId="urn:microsoft.com/office/officeart/2005/8/layout/list1"/>
    <dgm:cxn modelId="{A3B7542F-8D4B-4888-855C-7A69EFE361CB}" type="presParOf" srcId="{C5AC0950-36BA-47C9-A31D-A2EF263D1AAE}" destId="{509A1B9E-B100-4345-B3D6-F07D3DCA4B4D}" srcOrd="0" destOrd="0" presId="urn:microsoft.com/office/officeart/2005/8/layout/list1"/>
    <dgm:cxn modelId="{A40CE5D8-28E1-4F96-BFF0-1D5A0B92EFDF}" type="presParOf" srcId="{C5AC0950-36BA-47C9-A31D-A2EF263D1AAE}" destId="{958F76E9-052D-443C-ACA9-4B22352ADE0E}" srcOrd="1" destOrd="0" presId="urn:microsoft.com/office/officeart/2005/8/layout/list1"/>
    <dgm:cxn modelId="{1E21953C-2351-4035-BA65-2A2F820C7789}" type="presParOf" srcId="{EA435379-33DE-4A97-BCB0-1472B8EE6C3A}" destId="{E1A49ABA-AAA9-4705-86D6-B85DA6FA9E12}" srcOrd="5" destOrd="0" presId="urn:microsoft.com/office/officeart/2005/8/layout/list1"/>
    <dgm:cxn modelId="{20C09B5E-A311-41E1-94E0-7313534E7894}" type="presParOf" srcId="{EA435379-33DE-4A97-BCB0-1472B8EE6C3A}" destId="{C02EB144-D6FE-40FF-8692-5840ECC3152B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5967C3-DBD6-4DE0-8167-FC1B07D35B34}" type="doc">
      <dgm:prSet loTypeId="urn:microsoft.com/office/officeart/2005/8/layout/vList2" loCatId="list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02A9E97-0AB8-411F-88E0-21AECD921A1E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300" b="1" dirty="0">
              <a:solidFill>
                <a:srgbClr val="FFFFFF"/>
              </a:solidFill>
              <a:latin typeface="Aptos"/>
              <a:ea typeface="+mn-ea"/>
              <a:cs typeface="+mn-cs"/>
            </a:rPr>
            <a:t>               94.8% </a:t>
          </a:r>
          <a:br>
            <a:rPr lang="en-US" sz="2300" b="1" dirty="0">
              <a:solidFill>
                <a:schemeClr val="bg1"/>
              </a:solidFill>
              <a:latin typeface="Aptos"/>
              <a:ea typeface="+mn-ea"/>
              <a:cs typeface="+mn-cs"/>
            </a:rPr>
          </a:br>
          <a:r>
            <a:rPr lang="en-US" sz="2300" b="1" dirty="0">
              <a:solidFill>
                <a:srgbClr val="FFFFFF"/>
              </a:solidFill>
              <a:latin typeface="Aptos"/>
              <a:ea typeface="+mn-ea"/>
              <a:cs typeface="+mn-cs"/>
            </a:rPr>
            <a:t>Accuracy on the training device</a:t>
          </a:r>
        </a:p>
      </dgm:t>
    </dgm:pt>
    <dgm:pt modelId="{C6CAA18A-567A-48CB-8502-DA720FE92F92}" type="parTrans" cxnId="{9EB72140-83A6-4715-BF27-16C727A84FBB}">
      <dgm:prSet/>
      <dgm:spPr/>
      <dgm:t>
        <a:bodyPr/>
        <a:lstStyle/>
        <a:p>
          <a:endParaRPr lang="en-US"/>
        </a:p>
      </dgm:t>
    </dgm:pt>
    <dgm:pt modelId="{3D95DC24-76A5-4A67-AB01-A1C8A5CB2291}" type="sibTrans" cxnId="{9EB72140-83A6-4715-BF27-16C727A84FBB}">
      <dgm:prSet/>
      <dgm:spPr/>
      <dgm:t>
        <a:bodyPr/>
        <a:lstStyle/>
        <a:p>
          <a:endParaRPr lang="en-US"/>
        </a:p>
      </dgm:t>
    </dgm:pt>
    <dgm:pt modelId="{B27957FB-363A-4F65-A543-FCFF0E7B812E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300" b="1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              94.5% </a:t>
          </a:r>
          <a:br>
            <a:rPr lang="en-US" sz="2300" b="1" dirty="0">
              <a:solidFill>
                <a:schemeClr val="bg1"/>
              </a:solidFill>
              <a:latin typeface="Aptos" panose="02110004020202020204"/>
              <a:ea typeface="+mn-ea"/>
              <a:cs typeface="+mn-cs"/>
            </a:rPr>
          </a:br>
          <a:r>
            <a:rPr lang="en-US" sz="2300" b="1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Accuracy on unseen device</a:t>
          </a:r>
        </a:p>
      </dgm:t>
    </dgm:pt>
    <dgm:pt modelId="{525BC60E-6F2A-4860-A8F8-BB24FB8CBC02}" type="parTrans" cxnId="{71D87D32-A516-4B16-9169-C1A4D867D65D}">
      <dgm:prSet/>
      <dgm:spPr/>
      <dgm:t>
        <a:bodyPr/>
        <a:lstStyle/>
        <a:p>
          <a:endParaRPr lang="en-US"/>
        </a:p>
      </dgm:t>
    </dgm:pt>
    <dgm:pt modelId="{A481C2A2-B2F6-475D-B565-7B54D6830D2B}" type="sibTrans" cxnId="{71D87D32-A516-4B16-9169-C1A4D867D65D}">
      <dgm:prSet/>
      <dgm:spPr/>
      <dgm:t>
        <a:bodyPr/>
        <a:lstStyle/>
        <a:p>
          <a:endParaRPr lang="en-US"/>
        </a:p>
      </dgm:t>
    </dgm:pt>
    <dgm:pt modelId="{0686617F-54B2-488B-8D75-694F438B087F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300" b="1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              93.1% </a:t>
          </a:r>
          <a:br>
            <a:rPr lang="en-US" sz="2300" b="1" dirty="0">
              <a:solidFill>
                <a:schemeClr val="bg1"/>
              </a:solidFill>
              <a:latin typeface="Aptos" panose="02110004020202020204"/>
              <a:ea typeface="+mn-ea"/>
              <a:cs typeface="+mn-cs"/>
            </a:rPr>
          </a:br>
          <a:r>
            <a:rPr lang="en-US" sz="2300" b="1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Macro-F1 on unseen device</a:t>
          </a:r>
        </a:p>
      </dgm:t>
    </dgm:pt>
    <dgm:pt modelId="{DE39D5E9-22A5-48B6-B4FD-B74DBB8377D9}" type="parTrans" cxnId="{E308256D-B99A-4B96-AA09-03255A983C40}">
      <dgm:prSet/>
      <dgm:spPr/>
      <dgm:t>
        <a:bodyPr/>
        <a:lstStyle/>
        <a:p>
          <a:endParaRPr lang="en-US"/>
        </a:p>
      </dgm:t>
    </dgm:pt>
    <dgm:pt modelId="{F448393E-CE09-4FF3-B22F-7FD1986AAC19}" type="sibTrans" cxnId="{E308256D-B99A-4B96-AA09-03255A983C40}">
      <dgm:prSet/>
      <dgm:spPr/>
      <dgm:t>
        <a:bodyPr/>
        <a:lstStyle/>
        <a:p>
          <a:endParaRPr lang="en-US"/>
        </a:p>
      </dgm:t>
    </dgm:pt>
    <dgm:pt modelId="{C8D6717B-A504-460E-A13B-C4D15AC4AC44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300" b="1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               73.0% </a:t>
          </a:r>
          <a:br>
            <a:rPr lang="en-US" sz="2300" b="1" dirty="0">
              <a:solidFill>
                <a:schemeClr val="bg1"/>
              </a:solidFill>
              <a:latin typeface="Aptos" panose="02110004020202020204"/>
              <a:ea typeface="+mn-ea"/>
              <a:cs typeface="+mn-cs"/>
            </a:rPr>
          </a:br>
          <a:r>
            <a:rPr lang="en-US" sz="2300" b="1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Accuracy on Clinic real patient scans</a:t>
          </a:r>
        </a:p>
      </dgm:t>
    </dgm:pt>
    <dgm:pt modelId="{4196629F-E5DA-4F72-BF4E-8882A7041CFB}" type="parTrans" cxnId="{0ED3A96C-400E-452C-9DA3-412831BCD94F}">
      <dgm:prSet/>
      <dgm:spPr/>
      <dgm:t>
        <a:bodyPr/>
        <a:lstStyle/>
        <a:p>
          <a:endParaRPr lang="en-US"/>
        </a:p>
      </dgm:t>
    </dgm:pt>
    <dgm:pt modelId="{643114F4-15A8-4718-B2F7-8CE678F74C4D}" type="sibTrans" cxnId="{0ED3A96C-400E-452C-9DA3-412831BCD94F}">
      <dgm:prSet/>
      <dgm:spPr/>
      <dgm:t>
        <a:bodyPr/>
        <a:lstStyle/>
        <a:p>
          <a:endParaRPr lang="en-US"/>
        </a:p>
      </dgm:t>
    </dgm:pt>
    <dgm:pt modelId="{730E05D2-AFB4-46BA-9E90-2F2D661546D8}" type="pres">
      <dgm:prSet presAssocID="{2F5967C3-DBD6-4DE0-8167-FC1B07D35B34}" presName="linear" presStyleCnt="0">
        <dgm:presLayoutVars>
          <dgm:animLvl val="lvl"/>
          <dgm:resizeHandles val="exact"/>
        </dgm:presLayoutVars>
      </dgm:prSet>
      <dgm:spPr/>
    </dgm:pt>
    <dgm:pt modelId="{6511AB2F-80DD-4254-B1BA-59ED8B2782F3}" type="pres">
      <dgm:prSet presAssocID="{B02A9E97-0AB8-411F-88E0-21AECD921A1E}" presName="parentText" presStyleLbl="node1" presStyleIdx="0" presStyleCnt="4">
        <dgm:presLayoutVars>
          <dgm:chMax val="0"/>
          <dgm:bulletEnabled val="1"/>
        </dgm:presLayoutVars>
      </dgm:prSet>
      <dgm:spPr>
        <a:solidFill>
          <a:schemeClr val="bg1">
            <a:lumMod val="65000"/>
          </a:schemeClr>
        </a:solidFill>
      </dgm:spPr>
    </dgm:pt>
    <dgm:pt modelId="{B056D02E-98B4-472F-ACB9-72848EF6ED6E}" type="pres">
      <dgm:prSet presAssocID="{3D95DC24-76A5-4A67-AB01-A1C8A5CB2291}" presName="spacer" presStyleCnt="0"/>
      <dgm:spPr/>
    </dgm:pt>
    <dgm:pt modelId="{19952C2C-D86B-4049-BC88-4F1C292AB192}" type="pres">
      <dgm:prSet presAssocID="{B27957FB-363A-4F65-A543-FCFF0E7B812E}" presName="parentText" presStyleLbl="node1" presStyleIdx="1" presStyleCnt="4">
        <dgm:presLayoutVars>
          <dgm:chMax val="0"/>
          <dgm:bulletEnabled val="1"/>
        </dgm:presLayoutVars>
      </dgm:prSet>
      <dgm:spPr>
        <a:solidFill>
          <a:schemeClr val="accent1">
            <a:lumMod val="50000"/>
          </a:schemeClr>
        </a:solidFill>
      </dgm:spPr>
    </dgm:pt>
    <dgm:pt modelId="{B4532D1E-8CBD-4469-A299-567501AD8A94}" type="pres">
      <dgm:prSet presAssocID="{A481C2A2-B2F6-475D-B565-7B54D6830D2B}" presName="spacer" presStyleCnt="0"/>
      <dgm:spPr/>
    </dgm:pt>
    <dgm:pt modelId="{5D9FD395-2782-4F61-8148-9DED7BD677B1}" type="pres">
      <dgm:prSet presAssocID="{0686617F-54B2-488B-8D75-694F438B087F}" presName="parentText" presStyleLbl="node1" presStyleIdx="2" presStyleCnt="4">
        <dgm:presLayoutVars>
          <dgm:chMax val="0"/>
          <dgm:bulletEnabled val="1"/>
        </dgm:presLayoutVars>
      </dgm:prSet>
      <dgm:spPr>
        <a:solidFill>
          <a:schemeClr val="bg1">
            <a:lumMod val="65000"/>
          </a:schemeClr>
        </a:solidFill>
      </dgm:spPr>
    </dgm:pt>
    <dgm:pt modelId="{A9171B81-A3C1-4CF7-AA5D-C2C61226A13A}" type="pres">
      <dgm:prSet presAssocID="{F448393E-CE09-4FF3-B22F-7FD1986AAC19}" presName="spacer" presStyleCnt="0"/>
      <dgm:spPr/>
    </dgm:pt>
    <dgm:pt modelId="{F5D65E8B-B5DE-4C6C-AEAB-F9EC94AF8140}" type="pres">
      <dgm:prSet presAssocID="{C8D6717B-A504-460E-A13B-C4D15AC4AC44}" presName="parentText" presStyleLbl="node1" presStyleIdx="3" presStyleCnt="4">
        <dgm:presLayoutVars>
          <dgm:chMax val="0"/>
          <dgm:bulletEnabled val="1"/>
        </dgm:presLayoutVars>
      </dgm:prSet>
      <dgm:spPr>
        <a:solidFill>
          <a:schemeClr val="accent1">
            <a:lumMod val="50000"/>
          </a:schemeClr>
        </a:solidFill>
      </dgm:spPr>
    </dgm:pt>
  </dgm:ptLst>
  <dgm:cxnLst>
    <dgm:cxn modelId="{7DF3E11B-D372-470A-BA45-39CB397104DD}" type="presOf" srcId="{2F5967C3-DBD6-4DE0-8167-FC1B07D35B34}" destId="{730E05D2-AFB4-46BA-9E90-2F2D661546D8}" srcOrd="0" destOrd="0" presId="urn:microsoft.com/office/officeart/2005/8/layout/vList2"/>
    <dgm:cxn modelId="{71D87D32-A516-4B16-9169-C1A4D867D65D}" srcId="{2F5967C3-DBD6-4DE0-8167-FC1B07D35B34}" destId="{B27957FB-363A-4F65-A543-FCFF0E7B812E}" srcOrd="1" destOrd="0" parTransId="{525BC60E-6F2A-4860-A8F8-BB24FB8CBC02}" sibTransId="{A481C2A2-B2F6-475D-B565-7B54D6830D2B}"/>
    <dgm:cxn modelId="{9EB72140-83A6-4715-BF27-16C727A84FBB}" srcId="{2F5967C3-DBD6-4DE0-8167-FC1B07D35B34}" destId="{B02A9E97-0AB8-411F-88E0-21AECD921A1E}" srcOrd="0" destOrd="0" parTransId="{C6CAA18A-567A-48CB-8502-DA720FE92F92}" sibTransId="{3D95DC24-76A5-4A67-AB01-A1C8A5CB2291}"/>
    <dgm:cxn modelId="{1BE42847-F9F5-4D0C-8772-B3E09F016DB3}" type="presOf" srcId="{C8D6717B-A504-460E-A13B-C4D15AC4AC44}" destId="{F5D65E8B-B5DE-4C6C-AEAB-F9EC94AF8140}" srcOrd="0" destOrd="0" presId="urn:microsoft.com/office/officeart/2005/8/layout/vList2"/>
    <dgm:cxn modelId="{0ED3A96C-400E-452C-9DA3-412831BCD94F}" srcId="{2F5967C3-DBD6-4DE0-8167-FC1B07D35B34}" destId="{C8D6717B-A504-460E-A13B-C4D15AC4AC44}" srcOrd="3" destOrd="0" parTransId="{4196629F-E5DA-4F72-BF4E-8882A7041CFB}" sibTransId="{643114F4-15A8-4718-B2F7-8CE678F74C4D}"/>
    <dgm:cxn modelId="{E308256D-B99A-4B96-AA09-03255A983C40}" srcId="{2F5967C3-DBD6-4DE0-8167-FC1B07D35B34}" destId="{0686617F-54B2-488B-8D75-694F438B087F}" srcOrd="2" destOrd="0" parTransId="{DE39D5E9-22A5-48B6-B4FD-B74DBB8377D9}" sibTransId="{F448393E-CE09-4FF3-B22F-7FD1986AAC19}"/>
    <dgm:cxn modelId="{28FF7188-54CC-442D-A681-0BEB62EC8DF9}" type="presOf" srcId="{B02A9E97-0AB8-411F-88E0-21AECD921A1E}" destId="{6511AB2F-80DD-4254-B1BA-59ED8B2782F3}" srcOrd="0" destOrd="0" presId="urn:microsoft.com/office/officeart/2005/8/layout/vList2"/>
    <dgm:cxn modelId="{B3946C8B-2003-45BB-BE0D-301F5ADFE5CB}" type="presOf" srcId="{0686617F-54B2-488B-8D75-694F438B087F}" destId="{5D9FD395-2782-4F61-8148-9DED7BD677B1}" srcOrd="0" destOrd="0" presId="urn:microsoft.com/office/officeart/2005/8/layout/vList2"/>
    <dgm:cxn modelId="{FD9782D4-F3C2-4A83-A3DB-710D27AB0407}" type="presOf" srcId="{B27957FB-363A-4F65-A543-FCFF0E7B812E}" destId="{19952C2C-D86B-4049-BC88-4F1C292AB192}" srcOrd="0" destOrd="0" presId="urn:microsoft.com/office/officeart/2005/8/layout/vList2"/>
    <dgm:cxn modelId="{00ADC19D-21BC-42B4-832D-ABFDC1D4D541}" type="presParOf" srcId="{730E05D2-AFB4-46BA-9E90-2F2D661546D8}" destId="{6511AB2F-80DD-4254-B1BA-59ED8B2782F3}" srcOrd="0" destOrd="0" presId="urn:microsoft.com/office/officeart/2005/8/layout/vList2"/>
    <dgm:cxn modelId="{6144DF1A-F065-4C70-854D-BC5A5B4A8F7F}" type="presParOf" srcId="{730E05D2-AFB4-46BA-9E90-2F2D661546D8}" destId="{B056D02E-98B4-472F-ACB9-72848EF6ED6E}" srcOrd="1" destOrd="0" presId="urn:microsoft.com/office/officeart/2005/8/layout/vList2"/>
    <dgm:cxn modelId="{3D163A8D-271C-4236-AB4D-20CD8BFE69F4}" type="presParOf" srcId="{730E05D2-AFB4-46BA-9E90-2F2D661546D8}" destId="{19952C2C-D86B-4049-BC88-4F1C292AB192}" srcOrd="2" destOrd="0" presId="urn:microsoft.com/office/officeart/2005/8/layout/vList2"/>
    <dgm:cxn modelId="{54FA2E30-6361-49ED-97DA-D51374CF5FB7}" type="presParOf" srcId="{730E05D2-AFB4-46BA-9E90-2F2D661546D8}" destId="{B4532D1E-8CBD-4469-A299-567501AD8A94}" srcOrd="3" destOrd="0" presId="urn:microsoft.com/office/officeart/2005/8/layout/vList2"/>
    <dgm:cxn modelId="{CECDA1FD-13D5-4596-A59F-A1B047C7AEB8}" type="presParOf" srcId="{730E05D2-AFB4-46BA-9E90-2F2D661546D8}" destId="{5D9FD395-2782-4F61-8148-9DED7BD677B1}" srcOrd="4" destOrd="0" presId="urn:microsoft.com/office/officeart/2005/8/layout/vList2"/>
    <dgm:cxn modelId="{AA934C73-C04F-4B1B-A0A4-DF5EE63A19FA}" type="presParOf" srcId="{730E05D2-AFB4-46BA-9E90-2F2D661546D8}" destId="{A9171B81-A3C1-4CF7-AA5D-C2C61226A13A}" srcOrd="5" destOrd="0" presId="urn:microsoft.com/office/officeart/2005/8/layout/vList2"/>
    <dgm:cxn modelId="{3ECC4C17-B0E9-44C4-84DF-3C49AFC934F8}" type="presParOf" srcId="{730E05D2-AFB4-46BA-9E90-2F2D661546D8}" destId="{F5D65E8B-B5DE-4C6C-AEAB-F9EC94AF814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7F3C672-B489-4876-9F98-90586455B67F}" type="doc">
      <dgm:prSet loTypeId="urn:microsoft.com/office/officeart/2005/8/layout/defaul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74E49FD-8C54-4673-8B15-9549B7AF4D72}">
      <dgm:prSet/>
      <dgm:spPr/>
      <dgm:t>
        <a:bodyPr/>
        <a:lstStyle/>
        <a:p>
          <a:r>
            <a:rPr lang="en-US" dirty="0"/>
            <a:t>Limited to </a:t>
          </a:r>
          <a:r>
            <a:rPr lang="en-US" b="1" dirty="0"/>
            <a:t>ophthalmology &amp; OCT interpretation</a:t>
          </a:r>
          <a:r>
            <a:rPr lang="en-US" dirty="0"/>
            <a:t> </a:t>
          </a:r>
          <a:endParaRPr lang="en-US" b="1" dirty="0"/>
        </a:p>
      </dgm:t>
    </dgm:pt>
    <dgm:pt modelId="{437CEC41-1D69-47DB-A75F-B6BE1982BC26}" type="parTrans" cxnId="{195D9F5C-CADA-4FD5-99F1-9ECD4149FDDA}">
      <dgm:prSet/>
      <dgm:spPr/>
      <dgm:t>
        <a:bodyPr/>
        <a:lstStyle/>
        <a:p>
          <a:endParaRPr lang="en-US"/>
        </a:p>
      </dgm:t>
    </dgm:pt>
    <dgm:pt modelId="{B1CC19D0-9381-4060-A04E-57C1FF414090}" type="sibTrans" cxnId="{195D9F5C-CADA-4FD5-99F1-9ECD4149FDDA}">
      <dgm:prSet/>
      <dgm:spPr/>
      <dgm:t>
        <a:bodyPr/>
        <a:lstStyle/>
        <a:p>
          <a:endParaRPr lang="en-US"/>
        </a:p>
      </dgm:t>
    </dgm:pt>
    <dgm:pt modelId="{D53045C7-5D70-4ED9-8541-D257124F61DF}">
      <dgm:prSet/>
      <dgm:spPr/>
      <dgm:t>
        <a:bodyPr/>
        <a:lstStyle/>
        <a:p>
          <a:r>
            <a:rPr lang="en-US" dirty="0"/>
            <a:t>Rejects out-of-scope requests and prompt injection </a:t>
          </a:r>
        </a:p>
      </dgm:t>
    </dgm:pt>
    <dgm:pt modelId="{5A508455-B574-419A-BB8E-2D857F76B7FE}" type="parTrans" cxnId="{911D0067-B092-476D-BB77-27164B655B3C}">
      <dgm:prSet/>
      <dgm:spPr/>
      <dgm:t>
        <a:bodyPr/>
        <a:lstStyle/>
        <a:p>
          <a:endParaRPr lang="en-US"/>
        </a:p>
      </dgm:t>
    </dgm:pt>
    <dgm:pt modelId="{77092262-B9AD-4CCD-8DDA-E52F082AFE6B}" type="sibTrans" cxnId="{911D0067-B092-476D-BB77-27164B655B3C}">
      <dgm:prSet/>
      <dgm:spPr/>
      <dgm:t>
        <a:bodyPr/>
        <a:lstStyle/>
        <a:p>
          <a:endParaRPr lang="en-US"/>
        </a:p>
      </dgm:t>
    </dgm:pt>
    <dgm:pt modelId="{88B999B4-9B5B-4AE5-84E0-CF545C036BBB}">
      <dgm:prSet/>
      <dgm:spPr/>
      <dgm:t>
        <a:bodyPr/>
        <a:lstStyle/>
        <a:p>
          <a:r>
            <a:rPr lang="en-US" dirty="0"/>
            <a:t>Retrieves evidence before answering </a:t>
          </a:r>
        </a:p>
      </dgm:t>
    </dgm:pt>
    <dgm:pt modelId="{2B68FAA8-2162-4E71-9B97-F782ACF1C246}" type="parTrans" cxnId="{FD128253-7A84-4DEA-9AC7-9F971B29BC02}">
      <dgm:prSet/>
      <dgm:spPr/>
      <dgm:t>
        <a:bodyPr/>
        <a:lstStyle/>
        <a:p>
          <a:endParaRPr lang="en-US"/>
        </a:p>
      </dgm:t>
    </dgm:pt>
    <dgm:pt modelId="{250938B7-5197-4EF5-A1D6-3AFBE368790C}" type="sibTrans" cxnId="{FD128253-7A84-4DEA-9AC7-9F971B29BC02}">
      <dgm:prSet/>
      <dgm:spPr/>
      <dgm:t>
        <a:bodyPr/>
        <a:lstStyle/>
        <a:p>
          <a:endParaRPr lang="en-US"/>
        </a:p>
      </dgm:t>
    </dgm:pt>
    <dgm:pt modelId="{B47FEDBC-DB5C-4215-8642-6A1244B0983D}">
      <dgm:prSet/>
      <dgm:spPr/>
      <dgm:t>
        <a:bodyPr/>
        <a:lstStyle/>
        <a:p>
          <a:r>
            <a:rPr lang="en-US" dirty="0"/>
            <a:t>Cites supporting literature </a:t>
          </a:r>
        </a:p>
      </dgm:t>
    </dgm:pt>
    <dgm:pt modelId="{50B3F930-4F64-49CA-A408-84D230D7C0CA}" type="parTrans" cxnId="{4F9F93DD-EA01-4154-A20E-40CC2A275482}">
      <dgm:prSet/>
      <dgm:spPr/>
      <dgm:t>
        <a:bodyPr/>
        <a:lstStyle/>
        <a:p>
          <a:endParaRPr lang="en-US"/>
        </a:p>
      </dgm:t>
    </dgm:pt>
    <dgm:pt modelId="{F51DADA6-B97B-4742-98ED-C726E9B368DA}" type="sibTrans" cxnId="{4F9F93DD-EA01-4154-A20E-40CC2A275482}">
      <dgm:prSet/>
      <dgm:spPr/>
      <dgm:t>
        <a:bodyPr/>
        <a:lstStyle/>
        <a:p>
          <a:endParaRPr lang="en-US"/>
        </a:p>
      </dgm:t>
    </dgm:pt>
    <dgm:pt modelId="{31B9B41B-D2C5-4637-86F6-D00CD03DC46E}">
      <dgm:prSet/>
      <dgm:spPr/>
      <dgm:t>
        <a:bodyPr/>
        <a:lstStyle/>
        <a:p>
          <a:r>
            <a:rPr lang="en-US" dirty="0"/>
            <a:t>No fabricated information </a:t>
          </a:r>
        </a:p>
      </dgm:t>
    </dgm:pt>
    <dgm:pt modelId="{1C0760F0-15BC-4F54-9E10-B1ED92C96061}" type="parTrans" cxnId="{46F00542-3C93-4111-A4FC-AA6E2EEFAAAF}">
      <dgm:prSet/>
      <dgm:spPr/>
      <dgm:t>
        <a:bodyPr/>
        <a:lstStyle/>
        <a:p>
          <a:endParaRPr lang="en-US"/>
        </a:p>
      </dgm:t>
    </dgm:pt>
    <dgm:pt modelId="{DCE22202-8CB9-43A2-808E-1C32D47BD182}" type="sibTrans" cxnId="{46F00542-3C93-4111-A4FC-AA6E2EEFAAAF}">
      <dgm:prSet/>
      <dgm:spPr/>
      <dgm:t>
        <a:bodyPr/>
        <a:lstStyle/>
        <a:p>
          <a:endParaRPr lang="en-US"/>
        </a:p>
      </dgm:t>
    </dgm:pt>
    <dgm:pt modelId="{6B3346AA-E016-4B07-B82E-C242A9A86365}">
      <dgm:prSet/>
      <dgm:spPr/>
      <dgm:t>
        <a:bodyPr/>
        <a:lstStyle/>
        <a:p>
          <a:r>
            <a:rPr lang="en-US" dirty="0"/>
            <a:t>Predictions presented with </a:t>
          </a:r>
          <a:r>
            <a:rPr lang="en-US" b="1" dirty="0"/>
            <a:t>confidence scores</a:t>
          </a:r>
          <a:r>
            <a:rPr lang="en-US" dirty="0"/>
            <a:t> </a:t>
          </a:r>
        </a:p>
      </dgm:t>
    </dgm:pt>
    <dgm:pt modelId="{CAA627ED-C4E2-4E98-8CC7-FEA1092CE3A0}" type="parTrans" cxnId="{E4561515-9ED0-4B8E-94A6-7317339B5C1B}">
      <dgm:prSet/>
      <dgm:spPr/>
      <dgm:t>
        <a:bodyPr/>
        <a:lstStyle/>
        <a:p>
          <a:endParaRPr lang="en-US"/>
        </a:p>
      </dgm:t>
    </dgm:pt>
    <dgm:pt modelId="{12E9F262-C187-4784-AFC9-262885FA3CF8}" type="sibTrans" cxnId="{E4561515-9ED0-4B8E-94A6-7317339B5C1B}">
      <dgm:prSet/>
      <dgm:spPr/>
      <dgm:t>
        <a:bodyPr/>
        <a:lstStyle/>
        <a:p>
          <a:endParaRPr lang="en-US"/>
        </a:p>
      </dgm:t>
    </dgm:pt>
    <dgm:pt modelId="{2EE2652D-2682-459C-9853-FE2710370ACF}">
      <dgm:prSet/>
      <dgm:spPr/>
      <dgm:t>
        <a:bodyPr/>
        <a:lstStyle/>
        <a:p>
          <a:r>
            <a:rPr lang="en-US" dirty="0"/>
            <a:t>Not a clinical diagnosis </a:t>
          </a:r>
        </a:p>
      </dgm:t>
    </dgm:pt>
    <dgm:pt modelId="{336F8F42-9D94-4246-8B70-97D119FC849A}" type="parTrans" cxnId="{42F65DEC-D5A2-458B-B96C-A2B1148F60A6}">
      <dgm:prSet/>
      <dgm:spPr/>
      <dgm:t>
        <a:bodyPr/>
        <a:lstStyle/>
        <a:p>
          <a:endParaRPr lang="en-US"/>
        </a:p>
      </dgm:t>
    </dgm:pt>
    <dgm:pt modelId="{D7D60D62-9B9D-4516-B024-636AD73FDCB7}" type="sibTrans" cxnId="{42F65DEC-D5A2-458B-B96C-A2B1148F60A6}">
      <dgm:prSet/>
      <dgm:spPr/>
      <dgm:t>
        <a:bodyPr/>
        <a:lstStyle/>
        <a:p>
          <a:endParaRPr lang="en-US"/>
        </a:p>
      </dgm:t>
    </dgm:pt>
    <dgm:pt modelId="{8749F0B4-F4C3-4F34-85FB-94E659AEADAC}">
      <dgm:prSet/>
      <dgm:spPr/>
      <dgm:t>
        <a:bodyPr/>
        <a:lstStyle/>
        <a:p>
          <a:r>
            <a:rPr lang="en-US" dirty="0"/>
            <a:t>Highlights model limitations </a:t>
          </a:r>
        </a:p>
      </dgm:t>
    </dgm:pt>
    <dgm:pt modelId="{C7EF59C6-3743-4C3C-9A7D-8ABE286EEB60}" type="parTrans" cxnId="{16B2C774-715A-4AC2-9CA3-E9EBE396256C}">
      <dgm:prSet/>
      <dgm:spPr/>
      <dgm:t>
        <a:bodyPr/>
        <a:lstStyle/>
        <a:p>
          <a:endParaRPr lang="en-US"/>
        </a:p>
      </dgm:t>
    </dgm:pt>
    <dgm:pt modelId="{B903C415-6853-49EB-A99C-AE34FBE27CCF}" type="sibTrans" cxnId="{16B2C774-715A-4AC2-9CA3-E9EBE396256C}">
      <dgm:prSet/>
      <dgm:spPr/>
      <dgm:t>
        <a:bodyPr/>
        <a:lstStyle/>
        <a:p>
          <a:endParaRPr lang="en-US"/>
        </a:p>
      </dgm:t>
    </dgm:pt>
    <dgm:pt modelId="{0FA5E2E2-3651-4EB3-868D-2E03073B56FC}">
      <dgm:prSet/>
      <dgm:spPr/>
      <dgm:t>
        <a:bodyPr/>
        <a:lstStyle/>
        <a:p>
          <a:r>
            <a:rPr lang="en-US" dirty="0"/>
            <a:t>No treatment recommendations or drug dosing </a:t>
          </a:r>
        </a:p>
      </dgm:t>
    </dgm:pt>
    <dgm:pt modelId="{45C7BF69-EB53-47DF-A55D-09384758C841}" type="parTrans" cxnId="{3E4333C1-E731-4743-A7B7-C1DE1A81F7BA}">
      <dgm:prSet/>
      <dgm:spPr/>
      <dgm:t>
        <a:bodyPr/>
        <a:lstStyle/>
        <a:p>
          <a:endParaRPr lang="en-US"/>
        </a:p>
      </dgm:t>
    </dgm:pt>
    <dgm:pt modelId="{7DFF3326-2E69-49E5-A2C9-167B9FE46634}" type="sibTrans" cxnId="{3E4333C1-E731-4743-A7B7-C1DE1A81F7BA}">
      <dgm:prSet/>
      <dgm:spPr/>
      <dgm:t>
        <a:bodyPr/>
        <a:lstStyle/>
        <a:p>
          <a:endParaRPr lang="en-US"/>
        </a:p>
      </dgm:t>
    </dgm:pt>
    <dgm:pt modelId="{E2A6ADC5-6A54-4D99-AB3E-393A31ABC2F0}">
      <dgm:prSet/>
      <dgm:spPr/>
      <dgm:t>
        <a:bodyPr/>
        <a:lstStyle/>
        <a:p>
          <a:r>
            <a:rPr lang="en-US" dirty="0"/>
            <a:t>Encourages clinical correlation </a:t>
          </a:r>
        </a:p>
      </dgm:t>
    </dgm:pt>
    <dgm:pt modelId="{00A233BF-248F-43C8-9856-ADF5A4BDB62E}" type="parTrans" cxnId="{3DD320F3-A17C-4A19-AB62-C612727F423E}">
      <dgm:prSet/>
      <dgm:spPr/>
      <dgm:t>
        <a:bodyPr/>
        <a:lstStyle/>
        <a:p>
          <a:endParaRPr lang="en-US"/>
        </a:p>
      </dgm:t>
    </dgm:pt>
    <dgm:pt modelId="{1982C3E9-D6BE-4D11-AF36-5CC64E146862}" type="sibTrans" cxnId="{3DD320F3-A17C-4A19-AB62-C612727F423E}">
      <dgm:prSet/>
      <dgm:spPr/>
      <dgm:t>
        <a:bodyPr/>
        <a:lstStyle/>
        <a:p>
          <a:endParaRPr lang="en-US"/>
        </a:p>
      </dgm:t>
    </dgm:pt>
    <dgm:pt modelId="{BF4C5F58-34D7-4A64-BBF5-3472457368C0}">
      <dgm:prSet/>
      <dgm:spPr/>
      <dgm:t>
        <a:bodyPr/>
        <a:lstStyle/>
        <a:p>
          <a:pPr rtl="0"/>
          <a:r>
            <a:rPr lang="en-US" dirty="0"/>
            <a:t>Advises urgent referral when appropriate </a:t>
          </a:r>
          <a:endParaRPr lang="en-US" b="0" dirty="0">
            <a:latin typeface="Aptos Display" panose="02110004020202020204"/>
          </a:endParaRPr>
        </a:p>
      </dgm:t>
    </dgm:pt>
    <dgm:pt modelId="{875A8588-4F14-46C3-A234-40B526C4E447}" type="parTrans" cxnId="{7BDB1DA4-F0F0-477D-AD02-A5506920A771}">
      <dgm:prSet/>
      <dgm:spPr/>
      <dgm:t>
        <a:bodyPr/>
        <a:lstStyle/>
        <a:p>
          <a:endParaRPr lang="en-US"/>
        </a:p>
      </dgm:t>
    </dgm:pt>
    <dgm:pt modelId="{B4E1F147-2972-440D-821A-288AF325A78F}" type="sibTrans" cxnId="{7BDB1DA4-F0F0-477D-AD02-A5506920A771}">
      <dgm:prSet/>
      <dgm:spPr/>
      <dgm:t>
        <a:bodyPr/>
        <a:lstStyle/>
        <a:p>
          <a:endParaRPr lang="en-US"/>
        </a:p>
      </dgm:t>
    </dgm:pt>
    <dgm:pt modelId="{B970EFC8-0E87-44CD-BD98-B501744D398E}">
      <dgm:prSet/>
      <dgm:spPr/>
      <dgm:t>
        <a:bodyPr/>
        <a:lstStyle/>
        <a:p>
          <a:r>
            <a:rPr lang="en-US" dirty="0"/>
            <a:t>Does not request or disclose patient-identifying information</a:t>
          </a:r>
        </a:p>
      </dgm:t>
    </dgm:pt>
    <dgm:pt modelId="{5796FA88-8D39-4D66-A9D7-040EFBC0EA4C}" type="parTrans" cxnId="{57B46181-5812-43E8-8B17-6212137E913A}">
      <dgm:prSet/>
      <dgm:spPr/>
      <dgm:t>
        <a:bodyPr/>
        <a:lstStyle/>
        <a:p>
          <a:endParaRPr lang="en-US"/>
        </a:p>
      </dgm:t>
    </dgm:pt>
    <dgm:pt modelId="{924B3D4B-EF33-451D-A73A-59B3E53AB87F}" type="sibTrans" cxnId="{57B46181-5812-43E8-8B17-6212137E913A}">
      <dgm:prSet/>
      <dgm:spPr/>
      <dgm:t>
        <a:bodyPr/>
        <a:lstStyle/>
        <a:p>
          <a:endParaRPr lang="en-US"/>
        </a:p>
      </dgm:t>
    </dgm:pt>
    <dgm:pt modelId="{419C7427-9333-4E6E-B1FF-3955E140E078}" type="pres">
      <dgm:prSet presAssocID="{27F3C672-B489-4876-9F98-90586455B67F}" presName="diagram" presStyleCnt="0">
        <dgm:presLayoutVars>
          <dgm:dir/>
          <dgm:resizeHandles val="exact"/>
        </dgm:presLayoutVars>
      </dgm:prSet>
      <dgm:spPr/>
    </dgm:pt>
    <dgm:pt modelId="{1568350E-5BEA-4696-AF29-D8E47CFB19D5}" type="pres">
      <dgm:prSet presAssocID="{A74E49FD-8C54-4673-8B15-9549B7AF4D72}" presName="node" presStyleLbl="node1" presStyleIdx="0" presStyleCnt="12">
        <dgm:presLayoutVars>
          <dgm:bulletEnabled val="1"/>
        </dgm:presLayoutVars>
      </dgm:prSet>
      <dgm:spPr/>
    </dgm:pt>
    <dgm:pt modelId="{BDCB6B07-F753-4826-A0D4-5C759B958327}" type="pres">
      <dgm:prSet presAssocID="{B1CC19D0-9381-4060-A04E-57C1FF414090}" presName="sibTrans" presStyleCnt="0"/>
      <dgm:spPr/>
    </dgm:pt>
    <dgm:pt modelId="{5674FDE8-E854-4BA3-A201-E6A80AF8ACBB}" type="pres">
      <dgm:prSet presAssocID="{D53045C7-5D70-4ED9-8541-D257124F61DF}" presName="node" presStyleLbl="node1" presStyleIdx="1" presStyleCnt="12">
        <dgm:presLayoutVars>
          <dgm:bulletEnabled val="1"/>
        </dgm:presLayoutVars>
      </dgm:prSet>
      <dgm:spPr/>
    </dgm:pt>
    <dgm:pt modelId="{5EB8CC12-DDDD-49D1-AD15-32CFA7EF75C4}" type="pres">
      <dgm:prSet presAssocID="{77092262-B9AD-4CCD-8DDA-E52F082AFE6B}" presName="sibTrans" presStyleCnt="0"/>
      <dgm:spPr/>
    </dgm:pt>
    <dgm:pt modelId="{16183AC6-4481-4D02-BA39-E070C07C89BB}" type="pres">
      <dgm:prSet presAssocID="{88B999B4-9B5B-4AE5-84E0-CF545C036BBB}" presName="node" presStyleLbl="node1" presStyleIdx="2" presStyleCnt="12">
        <dgm:presLayoutVars>
          <dgm:bulletEnabled val="1"/>
        </dgm:presLayoutVars>
      </dgm:prSet>
      <dgm:spPr/>
    </dgm:pt>
    <dgm:pt modelId="{F200F666-7194-41C4-B981-33E3F5586374}" type="pres">
      <dgm:prSet presAssocID="{250938B7-5197-4EF5-A1D6-3AFBE368790C}" presName="sibTrans" presStyleCnt="0"/>
      <dgm:spPr/>
    </dgm:pt>
    <dgm:pt modelId="{EE860D00-6168-47CB-84D9-93D66BE58207}" type="pres">
      <dgm:prSet presAssocID="{B47FEDBC-DB5C-4215-8642-6A1244B0983D}" presName="node" presStyleLbl="node1" presStyleIdx="3" presStyleCnt="12">
        <dgm:presLayoutVars>
          <dgm:bulletEnabled val="1"/>
        </dgm:presLayoutVars>
      </dgm:prSet>
      <dgm:spPr/>
    </dgm:pt>
    <dgm:pt modelId="{8C1E40E3-42FB-4091-939E-84ABB5130A48}" type="pres">
      <dgm:prSet presAssocID="{F51DADA6-B97B-4742-98ED-C726E9B368DA}" presName="sibTrans" presStyleCnt="0"/>
      <dgm:spPr/>
    </dgm:pt>
    <dgm:pt modelId="{DBE4DC5E-B066-4AB4-A3C0-F09986898D60}" type="pres">
      <dgm:prSet presAssocID="{31B9B41B-D2C5-4637-86F6-D00CD03DC46E}" presName="node" presStyleLbl="node1" presStyleIdx="4" presStyleCnt="12">
        <dgm:presLayoutVars>
          <dgm:bulletEnabled val="1"/>
        </dgm:presLayoutVars>
      </dgm:prSet>
      <dgm:spPr/>
    </dgm:pt>
    <dgm:pt modelId="{8ECF4C3E-C8C4-44F3-A128-DDD523CC31EA}" type="pres">
      <dgm:prSet presAssocID="{DCE22202-8CB9-43A2-808E-1C32D47BD182}" presName="sibTrans" presStyleCnt="0"/>
      <dgm:spPr/>
    </dgm:pt>
    <dgm:pt modelId="{DB17F775-3789-4B2F-9F38-24148601ACF5}" type="pres">
      <dgm:prSet presAssocID="{6B3346AA-E016-4B07-B82E-C242A9A86365}" presName="node" presStyleLbl="node1" presStyleIdx="5" presStyleCnt="12">
        <dgm:presLayoutVars>
          <dgm:bulletEnabled val="1"/>
        </dgm:presLayoutVars>
      </dgm:prSet>
      <dgm:spPr/>
    </dgm:pt>
    <dgm:pt modelId="{D1594A4E-53CF-49E7-AF49-6DC3E897732A}" type="pres">
      <dgm:prSet presAssocID="{12E9F262-C187-4784-AFC9-262885FA3CF8}" presName="sibTrans" presStyleCnt="0"/>
      <dgm:spPr/>
    </dgm:pt>
    <dgm:pt modelId="{741B80AE-9BFC-4F31-B623-26B3B6952F1F}" type="pres">
      <dgm:prSet presAssocID="{2EE2652D-2682-459C-9853-FE2710370ACF}" presName="node" presStyleLbl="node1" presStyleIdx="6" presStyleCnt="12">
        <dgm:presLayoutVars>
          <dgm:bulletEnabled val="1"/>
        </dgm:presLayoutVars>
      </dgm:prSet>
      <dgm:spPr/>
    </dgm:pt>
    <dgm:pt modelId="{4DE1611A-0D62-481E-9CB7-E3570DDE087A}" type="pres">
      <dgm:prSet presAssocID="{D7D60D62-9B9D-4516-B024-636AD73FDCB7}" presName="sibTrans" presStyleCnt="0"/>
      <dgm:spPr/>
    </dgm:pt>
    <dgm:pt modelId="{001D33F3-A889-4F5C-9B1A-778094BE2625}" type="pres">
      <dgm:prSet presAssocID="{8749F0B4-F4C3-4F34-85FB-94E659AEADAC}" presName="node" presStyleLbl="node1" presStyleIdx="7" presStyleCnt="12">
        <dgm:presLayoutVars>
          <dgm:bulletEnabled val="1"/>
        </dgm:presLayoutVars>
      </dgm:prSet>
      <dgm:spPr/>
    </dgm:pt>
    <dgm:pt modelId="{F129AA20-2D4A-45AC-B922-C83BD5E1ECB1}" type="pres">
      <dgm:prSet presAssocID="{B903C415-6853-49EB-A99C-AE34FBE27CCF}" presName="sibTrans" presStyleCnt="0"/>
      <dgm:spPr/>
    </dgm:pt>
    <dgm:pt modelId="{7F85DE16-DF89-4084-9734-6D79272969B5}" type="pres">
      <dgm:prSet presAssocID="{0FA5E2E2-3651-4EB3-868D-2E03073B56FC}" presName="node" presStyleLbl="node1" presStyleIdx="8" presStyleCnt="12">
        <dgm:presLayoutVars>
          <dgm:bulletEnabled val="1"/>
        </dgm:presLayoutVars>
      </dgm:prSet>
      <dgm:spPr/>
    </dgm:pt>
    <dgm:pt modelId="{2F4ACD93-7219-47F5-8F9F-BEE15AD5EB79}" type="pres">
      <dgm:prSet presAssocID="{7DFF3326-2E69-49E5-A2C9-167B9FE46634}" presName="sibTrans" presStyleCnt="0"/>
      <dgm:spPr/>
    </dgm:pt>
    <dgm:pt modelId="{D0ED0DD5-E93B-4972-819C-B748D8DD6BDE}" type="pres">
      <dgm:prSet presAssocID="{E2A6ADC5-6A54-4D99-AB3E-393A31ABC2F0}" presName="node" presStyleLbl="node1" presStyleIdx="9" presStyleCnt="12">
        <dgm:presLayoutVars>
          <dgm:bulletEnabled val="1"/>
        </dgm:presLayoutVars>
      </dgm:prSet>
      <dgm:spPr/>
    </dgm:pt>
    <dgm:pt modelId="{742C54AD-66D9-4A35-B76E-733227450248}" type="pres">
      <dgm:prSet presAssocID="{1982C3E9-D6BE-4D11-AF36-5CC64E146862}" presName="sibTrans" presStyleCnt="0"/>
      <dgm:spPr/>
    </dgm:pt>
    <dgm:pt modelId="{67F2C089-C146-48E3-8D59-3F595817BA8E}" type="pres">
      <dgm:prSet presAssocID="{BF4C5F58-34D7-4A64-BBF5-3472457368C0}" presName="node" presStyleLbl="node1" presStyleIdx="10" presStyleCnt="12">
        <dgm:presLayoutVars>
          <dgm:bulletEnabled val="1"/>
        </dgm:presLayoutVars>
      </dgm:prSet>
      <dgm:spPr/>
    </dgm:pt>
    <dgm:pt modelId="{8C7865B5-D9B3-41C3-BDF6-29B6E064F31D}" type="pres">
      <dgm:prSet presAssocID="{B4E1F147-2972-440D-821A-288AF325A78F}" presName="sibTrans" presStyleCnt="0"/>
      <dgm:spPr/>
    </dgm:pt>
    <dgm:pt modelId="{FC507753-C889-4CCE-80EF-78722953348C}" type="pres">
      <dgm:prSet presAssocID="{B970EFC8-0E87-44CD-BD98-B501744D398E}" presName="node" presStyleLbl="node1" presStyleIdx="11" presStyleCnt="12">
        <dgm:presLayoutVars>
          <dgm:bulletEnabled val="1"/>
        </dgm:presLayoutVars>
      </dgm:prSet>
      <dgm:spPr/>
    </dgm:pt>
  </dgm:ptLst>
  <dgm:cxnLst>
    <dgm:cxn modelId="{F6B41607-A7AD-446E-8817-F2B58C934189}" type="presOf" srcId="{6B3346AA-E016-4B07-B82E-C242A9A86365}" destId="{DB17F775-3789-4B2F-9F38-24148601ACF5}" srcOrd="0" destOrd="0" presId="urn:microsoft.com/office/officeart/2005/8/layout/default"/>
    <dgm:cxn modelId="{90333610-7DDA-4294-B349-6ABD9AC55632}" type="presOf" srcId="{88B999B4-9B5B-4AE5-84E0-CF545C036BBB}" destId="{16183AC6-4481-4D02-BA39-E070C07C89BB}" srcOrd="0" destOrd="0" presId="urn:microsoft.com/office/officeart/2005/8/layout/default"/>
    <dgm:cxn modelId="{E4561515-9ED0-4B8E-94A6-7317339B5C1B}" srcId="{27F3C672-B489-4876-9F98-90586455B67F}" destId="{6B3346AA-E016-4B07-B82E-C242A9A86365}" srcOrd="5" destOrd="0" parTransId="{CAA627ED-C4E2-4E98-8CC7-FEA1092CE3A0}" sibTransId="{12E9F262-C187-4784-AFC9-262885FA3CF8}"/>
    <dgm:cxn modelId="{7DEE7533-BC95-4D66-9806-6D9DBD2039EE}" type="presOf" srcId="{A74E49FD-8C54-4673-8B15-9549B7AF4D72}" destId="{1568350E-5BEA-4696-AF29-D8E47CFB19D5}" srcOrd="0" destOrd="0" presId="urn:microsoft.com/office/officeart/2005/8/layout/default"/>
    <dgm:cxn modelId="{C334B433-0BF2-4F25-B25D-D36337AAC64C}" type="presOf" srcId="{D53045C7-5D70-4ED9-8541-D257124F61DF}" destId="{5674FDE8-E854-4BA3-A201-E6A80AF8ACBB}" srcOrd="0" destOrd="0" presId="urn:microsoft.com/office/officeart/2005/8/layout/default"/>
    <dgm:cxn modelId="{195D9F5C-CADA-4FD5-99F1-9ECD4149FDDA}" srcId="{27F3C672-B489-4876-9F98-90586455B67F}" destId="{A74E49FD-8C54-4673-8B15-9549B7AF4D72}" srcOrd="0" destOrd="0" parTransId="{437CEC41-1D69-47DB-A75F-B6BE1982BC26}" sibTransId="{B1CC19D0-9381-4060-A04E-57C1FF414090}"/>
    <dgm:cxn modelId="{46F00542-3C93-4111-A4FC-AA6E2EEFAAAF}" srcId="{27F3C672-B489-4876-9F98-90586455B67F}" destId="{31B9B41B-D2C5-4637-86F6-D00CD03DC46E}" srcOrd="4" destOrd="0" parTransId="{1C0760F0-15BC-4F54-9E10-B1ED92C96061}" sibTransId="{DCE22202-8CB9-43A2-808E-1C32D47BD182}"/>
    <dgm:cxn modelId="{911D0067-B092-476D-BB77-27164B655B3C}" srcId="{27F3C672-B489-4876-9F98-90586455B67F}" destId="{D53045C7-5D70-4ED9-8541-D257124F61DF}" srcOrd="1" destOrd="0" parTransId="{5A508455-B574-419A-BB8E-2D857F76B7FE}" sibTransId="{77092262-B9AD-4CCD-8DDA-E52F082AFE6B}"/>
    <dgm:cxn modelId="{D1DA744A-4A6C-45D0-AA91-6900572CA1D5}" type="presOf" srcId="{B47FEDBC-DB5C-4215-8642-6A1244B0983D}" destId="{EE860D00-6168-47CB-84D9-93D66BE58207}" srcOrd="0" destOrd="0" presId="urn:microsoft.com/office/officeart/2005/8/layout/default"/>
    <dgm:cxn modelId="{FD128253-7A84-4DEA-9AC7-9F971B29BC02}" srcId="{27F3C672-B489-4876-9F98-90586455B67F}" destId="{88B999B4-9B5B-4AE5-84E0-CF545C036BBB}" srcOrd="2" destOrd="0" parTransId="{2B68FAA8-2162-4E71-9B97-F782ACF1C246}" sibTransId="{250938B7-5197-4EF5-A1D6-3AFBE368790C}"/>
    <dgm:cxn modelId="{16B2C774-715A-4AC2-9CA3-E9EBE396256C}" srcId="{27F3C672-B489-4876-9F98-90586455B67F}" destId="{8749F0B4-F4C3-4F34-85FB-94E659AEADAC}" srcOrd="7" destOrd="0" parTransId="{C7EF59C6-3743-4C3C-9A7D-8ABE286EEB60}" sibTransId="{B903C415-6853-49EB-A99C-AE34FBE27CCF}"/>
    <dgm:cxn modelId="{1B1E1C79-D89C-48FA-8955-D3DB938787CF}" type="presOf" srcId="{B970EFC8-0E87-44CD-BD98-B501744D398E}" destId="{FC507753-C889-4CCE-80EF-78722953348C}" srcOrd="0" destOrd="0" presId="urn:microsoft.com/office/officeart/2005/8/layout/default"/>
    <dgm:cxn modelId="{BA8CD37B-E469-4BA5-96EB-64DF3E1476D8}" type="presOf" srcId="{0FA5E2E2-3651-4EB3-868D-2E03073B56FC}" destId="{7F85DE16-DF89-4084-9734-6D79272969B5}" srcOrd="0" destOrd="0" presId="urn:microsoft.com/office/officeart/2005/8/layout/default"/>
    <dgm:cxn modelId="{57B46181-5812-43E8-8B17-6212137E913A}" srcId="{27F3C672-B489-4876-9F98-90586455B67F}" destId="{B970EFC8-0E87-44CD-BD98-B501744D398E}" srcOrd="11" destOrd="0" parTransId="{5796FA88-8D39-4D66-A9D7-040EFBC0EA4C}" sibTransId="{924B3D4B-EF33-451D-A73A-59B3E53AB87F}"/>
    <dgm:cxn modelId="{C5F169A2-76AF-46AA-8BBF-47831AD987BC}" type="presOf" srcId="{27F3C672-B489-4876-9F98-90586455B67F}" destId="{419C7427-9333-4E6E-B1FF-3955E140E078}" srcOrd="0" destOrd="0" presId="urn:microsoft.com/office/officeart/2005/8/layout/default"/>
    <dgm:cxn modelId="{7BDB1DA4-F0F0-477D-AD02-A5506920A771}" srcId="{27F3C672-B489-4876-9F98-90586455B67F}" destId="{BF4C5F58-34D7-4A64-BBF5-3472457368C0}" srcOrd="10" destOrd="0" parTransId="{875A8588-4F14-46C3-A234-40B526C4E447}" sibTransId="{B4E1F147-2972-440D-821A-288AF325A78F}"/>
    <dgm:cxn modelId="{B0CA20B9-1C3E-4DF7-B789-28C79B1D10E5}" type="presOf" srcId="{31B9B41B-D2C5-4637-86F6-D00CD03DC46E}" destId="{DBE4DC5E-B066-4AB4-A3C0-F09986898D60}" srcOrd="0" destOrd="0" presId="urn:microsoft.com/office/officeart/2005/8/layout/default"/>
    <dgm:cxn modelId="{3E4333C1-E731-4743-A7B7-C1DE1A81F7BA}" srcId="{27F3C672-B489-4876-9F98-90586455B67F}" destId="{0FA5E2E2-3651-4EB3-868D-2E03073B56FC}" srcOrd="8" destOrd="0" parTransId="{45C7BF69-EB53-47DF-A55D-09384758C841}" sibTransId="{7DFF3326-2E69-49E5-A2C9-167B9FE46634}"/>
    <dgm:cxn modelId="{523237D3-7B22-4DD9-A914-262AD46FF56A}" type="presOf" srcId="{BF4C5F58-34D7-4A64-BBF5-3472457368C0}" destId="{67F2C089-C146-48E3-8D59-3F595817BA8E}" srcOrd="0" destOrd="0" presId="urn:microsoft.com/office/officeart/2005/8/layout/default"/>
    <dgm:cxn modelId="{4F9F93DD-EA01-4154-A20E-40CC2A275482}" srcId="{27F3C672-B489-4876-9F98-90586455B67F}" destId="{B47FEDBC-DB5C-4215-8642-6A1244B0983D}" srcOrd="3" destOrd="0" parTransId="{50B3F930-4F64-49CA-A408-84D230D7C0CA}" sibTransId="{F51DADA6-B97B-4742-98ED-C726E9B368DA}"/>
    <dgm:cxn modelId="{186F0BE2-4B82-46A0-ABF1-B58EA75F2CAE}" type="presOf" srcId="{8749F0B4-F4C3-4F34-85FB-94E659AEADAC}" destId="{001D33F3-A889-4F5C-9B1A-778094BE2625}" srcOrd="0" destOrd="0" presId="urn:microsoft.com/office/officeart/2005/8/layout/default"/>
    <dgm:cxn modelId="{42F65DEC-D5A2-458B-B96C-A2B1148F60A6}" srcId="{27F3C672-B489-4876-9F98-90586455B67F}" destId="{2EE2652D-2682-459C-9853-FE2710370ACF}" srcOrd="6" destOrd="0" parTransId="{336F8F42-9D94-4246-8B70-97D119FC849A}" sibTransId="{D7D60D62-9B9D-4516-B024-636AD73FDCB7}"/>
    <dgm:cxn modelId="{829B60F0-9A0B-4FBA-B58F-EE2E62D31B3C}" type="presOf" srcId="{2EE2652D-2682-459C-9853-FE2710370ACF}" destId="{741B80AE-9BFC-4F31-B623-26B3B6952F1F}" srcOrd="0" destOrd="0" presId="urn:microsoft.com/office/officeart/2005/8/layout/default"/>
    <dgm:cxn modelId="{3DD320F3-A17C-4A19-AB62-C612727F423E}" srcId="{27F3C672-B489-4876-9F98-90586455B67F}" destId="{E2A6ADC5-6A54-4D99-AB3E-393A31ABC2F0}" srcOrd="9" destOrd="0" parTransId="{00A233BF-248F-43C8-9856-ADF5A4BDB62E}" sibTransId="{1982C3E9-D6BE-4D11-AF36-5CC64E146862}"/>
    <dgm:cxn modelId="{8F2CE4F9-B2B6-40AC-A38E-774DD05215CD}" type="presOf" srcId="{E2A6ADC5-6A54-4D99-AB3E-393A31ABC2F0}" destId="{D0ED0DD5-E93B-4972-819C-B748D8DD6BDE}" srcOrd="0" destOrd="0" presId="urn:microsoft.com/office/officeart/2005/8/layout/default"/>
    <dgm:cxn modelId="{3DD34558-193F-4409-987B-50816513DA01}" type="presParOf" srcId="{419C7427-9333-4E6E-B1FF-3955E140E078}" destId="{1568350E-5BEA-4696-AF29-D8E47CFB19D5}" srcOrd="0" destOrd="0" presId="urn:microsoft.com/office/officeart/2005/8/layout/default"/>
    <dgm:cxn modelId="{F834428C-CB11-4F63-966F-FDCCA661B6A9}" type="presParOf" srcId="{419C7427-9333-4E6E-B1FF-3955E140E078}" destId="{BDCB6B07-F753-4826-A0D4-5C759B958327}" srcOrd="1" destOrd="0" presId="urn:microsoft.com/office/officeart/2005/8/layout/default"/>
    <dgm:cxn modelId="{E1718C92-4D9E-4F79-B82B-01DF75B5A91A}" type="presParOf" srcId="{419C7427-9333-4E6E-B1FF-3955E140E078}" destId="{5674FDE8-E854-4BA3-A201-E6A80AF8ACBB}" srcOrd="2" destOrd="0" presId="urn:microsoft.com/office/officeart/2005/8/layout/default"/>
    <dgm:cxn modelId="{9104CCAF-B701-4D7E-80CA-C63A3C827EF9}" type="presParOf" srcId="{419C7427-9333-4E6E-B1FF-3955E140E078}" destId="{5EB8CC12-DDDD-49D1-AD15-32CFA7EF75C4}" srcOrd="3" destOrd="0" presId="urn:microsoft.com/office/officeart/2005/8/layout/default"/>
    <dgm:cxn modelId="{48729CAC-89C5-4B36-BEE7-CC3C772B8A52}" type="presParOf" srcId="{419C7427-9333-4E6E-B1FF-3955E140E078}" destId="{16183AC6-4481-4D02-BA39-E070C07C89BB}" srcOrd="4" destOrd="0" presId="urn:microsoft.com/office/officeart/2005/8/layout/default"/>
    <dgm:cxn modelId="{6308A182-7BB1-4DE5-97A8-213529F7C91F}" type="presParOf" srcId="{419C7427-9333-4E6E-B1FF-3955E140E078}" destId="{F200F666-7194-41C4-B981-33E3F5586374}" srcOrd="5" destOrd="0" presId="urn:microsoft.com/office/officeart/2005/8/layout/default"/>
    <dgm:cxn modelId="{87171F7B-6525-4361-9292-9D9A88F43543}" type="presParOf" srcId="{419C7427-9333-4E6E-B1FF-3955E140E078}" destId="{EE860D00-6168-47CB-84D9-93D66BE58207}" srcOrd="6" destOrd="0" presId="urn:microsoft.com/office/officeart/2005/8/layout/default"/>
    <dgm:cxn modelId="{5BF98171-00DA-41AD-845C-FE588CA21EA3}" type="presParOf" srcId="{419C7427-9333-4E6E-B1FF-3955E140E078}" destId="{8C1E40E3-42FB-4091-939E-84ABB5130A48}" srcOrd="7" destOrd="0" presId="urn:microsoft.com/office/officeart/2005/8/layout/default"/>
    <dgm:cxn modelId="{02EFD278-68C0-4043-AD9C-54640E6965CD}" type="presParOf" srcId="{419C7427-9333-4E6E-B1FF-3955E140E078}" destId="{DBE4DC5E-B066-4AB4-A3C0-F09986898D60}" srcOrd="8" destOrd="0" presId="urn:microsoft.com/office/officeart/2005/8/layout/default"/>
    <dgm:cxn modelId="{A0DA636D-6F52-4AA7-8E55-96B877A739D9}" type="presParOf" srcId="{419C7427-9333-4E6E-B1FF-3955E140E078}" destId="{8ECF4C3E-C8C4-44F3-A128-DDD523CC31EA}" srcOrd="9" destOrd="0" presId="urn:microsoft.com/office/officeart/2005/8/layout/default"/>
    <dgm:cxn modelId="{F5047D08-836A-4EC7-9BE5-FDB11954B90D}" type="presParOf" srcId="{419C7427-9333-4E6E-B1FF-3955E140E078}" destId="{DB17F775-3789-4B2F-9F38-24148601ACF5}" srcOrd="10" destOrd="0" presId="urn:microsoft.com/office/officeart/2005/8/layout/default"/>
    <dgm:cxn modelId="{29E985FA-44D6-407F-BBC9-446C664072BF}" type="presParOf" srcId="{419C7427-9333-4E6E-B1FF-3955E140E078}" destId="{D1594A4E-53CF-49E7-AF49-6DC3E897732A}" srcOrd="11" destOrd="0" presId="urn:microsoft.com/office/officeart/2005/8/layout/default"/>
    <dgm:cxn modelId="{F596BDE3-6DD9-47B8-8CD3-940918451485}" type="presParOf" srcId="{419C7427-9333-4E6E-B1FF-3955E140E078}" destId="{741B80AE-9BFC-4F31-B623-26B3B6952F1F}" srcOrd="12" destOrd="0" presId="urn:microsoft.com/office/officeart/2005/8/layout/default"/>
    <dgm:cxn modelId="{861C80AF-9A4B-4C75-BDD4-460B48A33708}" type="presParOf" srcId="{419C7427-9333-4E6E-B1FF-3955E140E078}" destId="{4DE1611A-0D62-481E-9CB7-E3570DDE087A}" srcOrd="13" destOrd="0" presId="urn:microsoft.com/office/officeart/2005/8/layout/default"/>
    <dgm:cxn modelId="{B50D507A-EA67-48AF-934C-67157C619F7C}" type="presParOf" srcId="{419C7427-9333-4E6E-B1FF-3955E140E078}" destId="{001D33F3-A889-4F5C-9B1A-778094BE2625}" srcOrd="14" destOrd="0" presId="urn:microsoft.com/office/officeart/2005/8/layout/default"/>
    <dgm:cxn modelId="{99556D3C-7A32-4966-9EAC-7241CE077290}" type="presParOf" srcId="{419C7427-9333-4E6E-B1FF-3955E140E078}" destId="{F129AA20-2D4A-45AC-B922-C83BD5E1ECB1}" srcOrd="15" destOrd="0" presId="urn:microsoft.com/office/officeart/2005/8/layout/default"/>
    <dgm:cxn modelId="{47536E50-D67D-4B70-9C51-9CD847E515AE}" type="presParOf" srcId="{419C7427-9333-4E6E-B1FF-3955E140E078}" destId="{7F85DE16-DF89-4084-9734-6D79272969B5}" srcOrd="16" destOrd="0" presId="urn:microsoft.com/office/officeart/2005/8/layout/default"/>
    <dgm:cxn modelId="{BCD7BED9-9B83-4917-AF41-7F20788165D8}" type="presParOf" srcId="{419C7427-9333-4E6E-B1FF-3955E140E078}" destId="{2F4ACD93-7219-47F5-8F9F-BEE15AD5EB79}" srcOrd="17" destOrd="0" presId="urn:microsoft.com/office/officeart/2005/8/layout/default"/>
    <dgm:cxn modelId="{32D122DE-46A8-4C89-8CFD-828A14F4CFF3}" type="presParOf" srcId="{419C7427-9333-4E6E-B1FF-3955E140E078}" destId="{D0ED0DD5-E93B-4972-819C-B748D8DD6BDE}" srcOrd="18" destOrd="0" presId="urn:microsoft.com/office/officeart/2005/8/layout/default"/>
    <dgm:cxn modelId="{8535C48E-3DAB-4688-8A65-0F5E20365F9C}" type="presParOf" srcId="{419C7427-9333-4E6E-B1FF-3955E140E078}" destId="{742C54AD-66D9-4A35-B76E-733227450248}" srcOrd="19" destOrd="0" presId="urn:microsoft.com/office/officeart/2005/8/layout/default"/>
    <dgm:cxn modelId="{E30F4EAF-0D75-4581-AFC0-75B2A6AA0C2B}" type="presParOf" srcId="{419C7427-9333-4E6E-B1FF-3955E140E078}" destId="{67F2C089-C146-48E3-8D59-3F595817BA8E}" srcOrd="20" destOrd="0" presId="urn:microsoft.com/office/officeart/2005/8/layout/default"/>
    <dgm:cxn modelId="{F38C69A8-F95C-42B3-9726-568D3AA400E8}" type="presParOf" srcId="{419C7427-9333-4E6E-B1FF-3955E140E078}" destId="{8C7865B5-D9B3-41C3-BDF6-29B6E064F31D}" srcOrd="21" destOrd="0" presId="urn:microsoft.com/office/officeart/2005/8/layout/default"/>
    <dgm:cxn modelId="{EABC838C-0946-48E4-A872-E691C0717E0B}" type="presParOf" srcId="{419C7427-9333-4E6E-B1FF-3955E140E078}" destId="{FC507753-C889-4CCE-80EF-78722953348C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1A5A38-AB2B-4E03-957E-586D0C1D4D5E}">
      <dsp:nvSpPr>
        <dsp:cNvPr id="0" name=""/>
        <dsp:cNvSpPr/>
      </dsp:nvSpPr>
      <dsp:spPr>
        <a:xfrm>
          <a:off x="0" y="266486"/>
          <a:ext cx="4991629" cy="12316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7406" tIns="354076" rIns="387406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Different dataset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Model failure in spotting scanner not disease</a:t>
          </a:r>
        </a:p>
      </dsp:txBody>
      <dsp:txXfrm>
        <a:off x="0" y="266486"/>
        <a:ext cx="4991629" cy="1231650"/>
      </dsp:txXfrm>
    </dsp:sp>
    <dsp:sp modelId="{3C3CD669-7AD9-4A31-9CEB-F48971272090}">
      <dsp:nvSpPr>
        <dsp:cNvPr id="0" name=""/>
        <dsp:cNvSpPr/>
      </dsp:nvSpPr>
      <dsp:spPr>
        <a:xfrm>
          <a:off x="249581" y="15566"/>
          <a:ext cx="3494140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2070" tIns="0" rIns="13207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Our Experiment</a:t>
          </a:r>
          <a:endParaRPr lang="en-US" sz="1700" kern="1200"/>
        </a:p>
      </dsp:txBody>
      <dsp:txXfrm>
        <a:off x="274079" y="40064"/>
        <a:ext cx="3445144" cy="452844"/>
      </dsp:txXfrm>
    </dsp:sp>
    <dsp:sp modelId="{C02EB144-D6FE-40FF-8692-5840ECC3152B}">
      <dsp:nvSpPr>
        <dsp:cNvPr id="0" name=""/>
        <dsp:cNvSpPr/>
      </dsp:nvSpPr>
      <dsp:spPr>
        <a:xfrm>
          <a:off x="0" y="1840856"/>
          <a:ext cx="4991629" cy="18207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7406" tIns="354076" rIns="387406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Examined on training set imbalance with class weights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Rebuilt patient leakage data split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Normalized inconsistent image sizes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Fast screening subsample on 12k images. </a:t>
          </a:r>
        </a:p>
      </dsp:txBody>
      <dsp:txXfrm>
        <a:off x="0" y="1840856"/>
        <a:ext cx="4991629" cy="1820700"/>
      </dsp:txXfrm>
    </dsp:sp>
    <dsp:sp modelId="{958F76E9-052D-443C-ACA9-4B22352ADE0E}">
      <dsp:nvSpPr>
        <dsp:cNvPr id="0" name=""/>
        <dsp:cNvSpPr/>
      </dsp:nvSpPr>
      <dsp:spPr>
        <a:xfrm>
          <a:off x="249581" y="1589936"/>
          <a:ext cx="3494140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2070" tIns="0" rIns="13207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Our Reconstruction</a:t>
          </a:r>
          <a:endParaRPr lang="en-US" sz="1700" kern="1200"/>
        </a:p>
      </dsp:txBody>
      <dsp:txXfrm>
        <a:off x="274079" y="1614434"/>
        <a:ext cx="3445144" cy="452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11AB2F-80DD-4254-B1BA-59ED8B2782F3}">
      <dsp:nvSpPr>
        <dsp:cNvPr id="0" name=""/>
        <dsp:cNvSpPr/>
      </dsp:nvSpPr>
      <dsp:spPr>
        <a:xfrm>
          <a:off x="0" y="21221"/>
          <a:ext cx="3061675" cy="1264770"/>
        </a:xfrm>
        <a:prstGeom prst="roundRect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solidFill>
                <a:srgbClr val="FFFFFF"/>
              </a:solidFill>
              <a:latin typeface="Aptos"/>
              <a:ea typeface="+mn-ea"/>
              <a:cs typeface="+mn-cs"/>
            </a:rPr>
            <a:t>               94.8% </a:t>
          </a:r>
          <a:br>
            <a:rPr lang="en-US" sz="2300" b="1" kern="1200" dirty="0">
              <a:solidFill>
                <a:schemeClr val="bg1"/>
              </a:solidFill>
              <a:latin typeface="Aptos"/>
              <a:ea typeface="+mn-ea"/>
              <a:cs typeface="+mn-cs"/>
            </a:rPr>
          </a:br>
          <a:r>
            <a:rPr lang="en-US" sz="2300" b="1" kern="1200" dirty="0">
              <a:solidFill>
                <a:srgbClr val="FFFFFF"/>
              </a:solidFill>
              <a:latin typeface="Aptos"/>
              <a:ea typeface="+mn-ea"/>
              <a:cs typeface="+mn-cs"/>
            </a:rPr>
            <a:t>Accuracy on the training device</a:t>
          </a:r>
        </a:p>
      </dsp:txBody>
      <dsp:txXfrm>
        <a:off x="61741" y="82962"/>
        <a:ext cx="2938193" cy="1141288"/>
      </dsp:txXfrm>
    </dsp:sp>
    <dsp:sp modelId="{19952C2C-D86B-4049-BC88-4F1C292AB192}">
      <dsp:nvSpPr>
        <dsp:cNvPr id="0" name=""/>
        <dsp:cNvSpPr/>
      </dsp:nvSpPr>
      <dsp:spPr>
        <a:xfrm>
          <a:off x="0" y="1352231"/>
          <a:ext cx="3061675" cy="1264770"/>
        </a:xfrm>
        <a:prstGeom prst="roundRect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              94.5% </a:t>
          </a:r>
          <a:br>
            <a:rPr lang="en-US" sz="2300" b="1" kern="1200" dirty="0">
              <a:solidFill>
                <a:schemeClr val="bg1"/>
              </a:solidFill>
              <a:latin typeface="Aptos" panose="02110004020202020204"/>
              <a:ea typeface="+mn-ea"/>
              <a:cs typeface="+mn-cs"/>
            </a:rPr>
          </a:br>
          <a:r>
            <a:rPr lang="en-US" sz="2300" b="1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Accuracy on unseen device</a:t>
          </a:r>
        </a:p>
      </dsp:txBody>
      <dsp:txXfrm>
        <a:off x="61741" y="1413972"/>
        <a:ext cx="2938193" cy="1141288"/>
      </dsp:txXfrm>
    </dsp:sp>
    <dsp:sp modelId="{5D9FD395-2782-4F61-8148-9DED7BD677B1}">
      <dsp:nvSpPr>
        <dsp:cNvPr id="0" name=""/>
        <dsp:cNvSpPr/>
      </dsp:nvSpPr>
      <dsp:spPr>
        <a:xfrm>
          <a:off x="0" y="2683241"/>
          <a:ext cx="3061675" cy="1264770"/>
        </a:xfrm>
        <a:prstGeom prst="roundRect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              93.1% </a:t>
          </a:r>
          <a:br>
            <a:rPr lang="en-US" sz="2300" b="1" kern="1200" dirty="0">
              <a:solidFill>
                <a:schemeClr val="bg1"/>
              </a:solidFill>
              <a:latin typeface="Aptos" panose="02110004020202020204"/>
              <a:ea typeface="+mn-ea"/>
              <a:cs typeface="+mn-cs"/>
            </a:rPr>
          </a:br>
          <a:r>
            <a:rPr lang="en-US" sz="2300" b="1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Macro-F1 on unseen device</a:t>
          </a:r>
        </a:p>
      </dsp:txBody>
      <dsp:txXfrm>
        <a:off x="61741" y="2744982"/>
        <a:ext cx="2938193" cy="1141288"/>
      </dsp:txXfrm>
    </dsp:sp>
    <dsp:sp modelId="{F5D65E8B-B5DE-4C6C-AEAB-F9EC94AF8140}">
      <dsp:nvSpPr>
        <dsp:cNvPr id="0" name=""/>
        <dsp:cNvSpPr/>
      </dsp:nvSpPr>
      <dsp:spPr>
        <a:xfrm>
          <a:off x="0" y="4014251"/>
          <a:ext cx="3061675" cy="1264770"/>
        </a:xfrm>
        <a:prstGeom prst="roundRect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               73.0% </a:t>
          </a:r>
          <a:br>
            <a:rPr lang="en-US" sz="2300" b="1" kern="1200" dirty="0">
              <a:solidFill>
                <a:schemeClr val="bg1"/>
              </a:solidFill>
              <a:latin typeface="Aptos" panose="02110004020202020204"/>
              <a:ea typeface="+mn-ea"/>
              <a:cs typeface="+mn-cs"/>
            </a:rPr>
          </a:br>
          <a:r>
            <a:rPr lang="en-US" sz="2300" b="1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Accuracy on Clinic real patient scans</a:t>
          </a:r>
        </a:p>
      </dsp:txBody>
      <dsp:txXfrm>
        <a:off x="61741" y="4075992"/>
        <a:ext cx="2938193" cy="11412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68350E-5BEA-4696-AF29-D8E47CFB19D5}">
      <dsp:nvSpPr>
        <dsp:cNvPr id="0" name=""/>
        <dsp:cNvSpPr/>
      </dsp:nvSpPr>
      <dsp:spPr>
        <a:xfrm>
          <a:off x="2351" y="476646"/>
          <a:ext cx="1865194" cy="111911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Limited to </a:t>
          </a:r>
          <a:r>
            <a:rPr lang="en-US" sz="1700" b="1" kern="1200" dirty="0"/>
            <a:t>ophthalmology &amp; OCT interpretation</a:t>
          </a:r>
          <a:r>
            <a:rPr lang="en-US" sz="1700" kern="1200" dirty="0"/>
            <a:t> </a:t>
          </a:r>
          <a:endParaRPr lang="en-US" sz="1700" b="1" kern="1200" dirty="0"/>
        </a:p>
      </dsp:txBody>
      <dsp:txXfrm>
        <a:off x="2351" y="476646"/>
        <a:ext cx="1865194" cy="1119116"/>
      </dsp:txXfrm>
    </dsp:sp>
    <dsp:sp modelId="{5674FDE8-E854-4BA3-A201-E6A80AF8ACBB}">
      <dsp:nvSpPr>
        <dsp:cNvPr id="0" name=""/>
        <dsp:cNvSpPr/>
      </dsp:nvSpPr>
      <dsp:spPr>
        <a:xfrm>
          <a:off x="2054064" y="476646"/>
          <a:ext cx="1865194" cy="111911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Rejects out-of-scope requests and prompt injection </a:t>
          </a:r>
        </a:p>
      </dsp:txBody>
      <dsp:txXfrm>
        <a:off x="2054064" y="476646"/>
        <a:ext cx="1865194" cy="1119116"/>
      </dsp:txXfrm>
    </dsp:sp>
    <dsp:sp modelId="{16183AC6-4481-4D02-BA39-E070C07C89BB}">
      <dsp:nvSpPr>
        <dsp:cNvPr id="0" name=""/>
        <dsp:cNvSpPr/>
      </dsp:nvSpPr>
      <dsp:spPr>
        <a:xfrm>
          <a:off x="4105778" y="476646"/>
          <a:ext cx="1865194" cy="111911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Retrieves evidence before answering </a:t>
          </a:r>
        </a:p>
      </dsp:txBody>
      <dsp:txXfrm>
        <a:off x="4105778" y="476646"/>
        <a:ext cx="1865194" cy="1119116"/>
      </dsp:txXfrm>
    </dsp:sp>
    <dsp:sp modelId="{EE860D00-6168-47CB-84D9-93D66BE58207}">
      <dsp:nvSpPr>
        <dsp:cNvPr id="0" name=""/>
        <dsp:cNvSpPr/>
      </dsp:nvSpPr>
      <dsp:spPr>
        <a:xfrm>
          <a:off x="6157492" y="476646"/>
          <a:ext cx="1865194" cy="111911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Cites supporting literature </a:t>
          </a:r>
        </a:p>
      </dsp:txBody>
      <dsp:txXfrm>
        <a:off x="6157492" y="476646"/>
        <a:ext cx="1865194" cy="1119116"/>
      </dsp:txXfrm>
    </dsp:sp>
    <dsp:sp modelId="{DBE4DC5E-B066-4AB4-A3C0-F09986898D60}">
      <dsp:nvSpPr>
        <dsp:cNvPr id="0" name=""/>
        <dsp:cNvSpPr/>
      </dsp:nvSpPr>
      <dsp:spPr>
        <a:xfrm>
          <a:off x="2351" y="1782282"/>
          <a:ext cx="1865194" cy="111911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 fabricated information </a:t>
          </a:r>
        </a:p>
      </dsp:txBody>
      <dsp:txXfrm>
        <a:off x="2351" y="1782282"/>
        <a:ext cx="1865194" cy="1119116"/>
      </dsp:txXfrm>
    </dsp:sp>
    <dsp:sp modelId="{DB17F775-3789-4B2F-9F38-24148601ACF5}">
      <dsp:nvSpPr>
        <dsp:cNvPr id="0" name=""/>
        <dsp:cNvSpPr/>
      </dsp:nvSpPr>
      <dsp:spPr>
        <a:xfrm>
          <a:off x="2054064" y="1782282"/>
          <a:ext cx="1865194" cy="111911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Predictions presented with </a:t>
          </a:r>
          <a:r>
            <a:rPr lang="en-US" sz="1700" b="1" kern="1200" dirty="0"/>
            <a:t>confidence scores</a:t>
          </a:r>
          <a:r>
            <a:rPr lang="en-US" sz="1700" kern="1200" dirty="0"/>
            <a:t> </a:t>
          </a:r>
        </a:p>
      </dsp:txBody>
      <dsp:txXfrm>
        <a:off x="2054064" y="1782282"/>
        <a:ext cx="1865194" cy="1119116"/>
      </dsp:txXfrm>
    </dsp:sp>
    <dsp:sp modelId="{741B80AE-9BFC-4F31-B623-26B3B6952F1F}">
      <dsp:nvSpPr>
        <dsp:cNvPr id="0" name=""/>
        <dsp:cNvSpPr/>
      </dsp:nvSpPr>
      <dsp:spPr>
        <a:xfrm>
          <a:off x="4105778" y="1782282"/>
          <a:ext cx="1865194" cy="111911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Not a clinical diagnosis </a:t>
          </a:r>
        </a:p>
      </dsp:txBody>
      <dsp:txXfrm>
        <a:off x="4105778" y="1782282"/>
        <a:ext cx="1865194" cy="1119116"/>
      </dsp:txXfrm>
    </dsp:sp>
    <dsp:sp modelId="{001D33F3-A889-4F5C-9B1A-778094BE2625}">
      <dsp:nvSpPr>
        <dsp:cNvPr id="0" name=""/>
        <dsp:cNvSpPr/>
      </dsp:nvSpPr>
      <dsp:spPr>
        <a:xfrm>
          <a:off x="6157492" y="1782282"/>
          <a:ext cx="1865194" cy="111911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Highlights model limitations </a:t>
          </a:r>
        </a:p>
      </dsp:txBody>
      <dsp:txXfrm>
        <a:off x="6157492" y="1782282"/>
        <a:ext cx="1865194" cy="1119116"/>
      </dsp:txXfrm>
    </dsp:sp>
    <dsp:sp modelId="{7F85DE16-DF89-4084-9734-6D79272969B5}">
      <dsp:nvSpPr>
        <dsp:cNvPr id="0" name=""/>
        <dsp:cNvSpPr/>
      </dsp:nvSpPr>
      <dsp:spPr>
        <a:xfrm>
          <a:off x="2351" y="3087918"/>
          <a:ext cx="1865194" cy="111911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 treatment recommendations or drug dosing </a:t>
          </a:r>
        </a:p>
      </dsp:txBody>
      <dsp:txXfrm>
        <a:off x="2351" y="3087918"/>
        <a:ext cx="1865194" cy="1119116"/>
      </dsp:txXfrm>
    </dsp:sp>
    <dsp:sp modelId="{D0ED0DD5-E93B-4972-819C-B748D8DD6BDE}">
      <dsp:nvSpPr>
        <dsp:cNvPr id="0" name=""/>
        <dsp:cNvSpPr/>
      </dsp:nvSpPr>
      <dsp:spPr>
        <a:xfrm>
          <a:off x="2054064" y="3087918"/>
          <a:ext cx="1865194" cy="111911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Encourages clinical correlation </a:t>
          </a:r>
        </a:p>
      </dsp:txBody>
      <dsp:txXfrm>
        <a:off x="2054064" y="3087918"/>
        <a:ext cx="1865194" cy="1119116"/>
      </dsp:txXfrm>
    </dsp:sp>
    <dsp:sp modelId="{67F2C089-C146-48E3-8D59-3F595817BA8E}">
      <dsp:nvSpPr>
        <dsp:cNvPr id="0" name=""/>
        <dsp:cNvSpPr/>
      </dsp:nvSpPr>
      <dsp:spPr>
        <a:xfrm>
          <a:off x="4105778" y="3087918"/>
          <a:ext cx="1865194" cy="111911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Advises urgent referral when appropriate </a:t>
          </a:r>
          <a:endParaRPr lang="en-US" sz="1700" b="0" kern="1200" dirty="0">
            <a:latin typeface="Aptos Display" panose="02110004020202020204"/>
          </a:endParaRPr>
        </a:p>
      </dsp:txBody>
      <dsp:txXfrm>
        <a:off x="4105778" y="3087918"/>
        <a:ext cx="1865194" cy="1119116"/>
      </dsp:txXfrm>
    </dsp:sp>
    <dsp:sp modelId="{FC507753-C889-4CCE-80EF-78722953348C}">
      <dsp:nvSpPr>
        <dsp:cNvPr id="0" name=""/>
        <dsp:cNvSpPr/>
      </dsp:nvSpPr>
      <dsp:spPr>
        <a:xfrm>
          <a:off x="6157492" y="3087918"/>
          <a:ext cx="1865194" cy="111911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Does not request or disclose patient-identifying information</a:t>
          </a:r>
        </a:p>
      </dsp:txBody>
      <dsp:txXfrm>
        <a:off x="6157492" y="3087918"/>
        <a:ext cx="1865194" cy="11191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microsoft.com/office/2007/relationships/hdphoto" Target="../media/hdphoto2.wdp"/><Relationship Id="rId7" Type="http://schemas.openxmlformats.org/officeDocument/2006/relationships/diagramColors" Target="../diagrams/colors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36CA75-CFBF-4844-B719-8FE9EBADA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4A84B9-E564-4DD0-97F8-DBF1C460C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2382E0-0A09-46AE-B955-B911CAFE7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E75D4A-0965-4973-BE75-DECCAC9A9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A599609-F5C2-4A0B-A992-913F814A6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85C6AC-955A-8A0A-169F-62E3ECF1F0C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81000"/>
                    </a14:imgEffect>
                    <a14:imgEffect>
                      <a14:brightnessContrast bright="-58000" contrast="21000"/>
                    </a14:imgEffect>
                  </a14:imgLayer>
                </a14:imgProps>
              </a:ext>
            </a:extLst>
          </a:blip>
          <a:srcRect l="25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1965" y="552807"/>
            <a:ext cx="9801854" cy="27903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An Explainable AI and Retrieval-Augmented Assistant for OCT-Based Retinal Disease Decision Support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FF717D-7AA3-930E-FB73-1686AA819A97}"/>
              </a:ext>
            </a:extLst>
          </p:cNvPr>
          <p:cNvSpPr txBox="1"/>
          <p:nvPr/>
        </p:nvSpPr>
        <p:spPr>
          <a:xfrm>
            <a:off x="1191966" y="3510476"/>
            <a:ext cx="9801854" cy="261423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FFFF"/>
                </a:solidFill>
              </a:rPr>
              <a:t>Anastasios Rigos</a:t>
            </a:r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FFFF"/>
                </a:solidFill>
              </a:rPr>
              <a:t>Prada Mehavannan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4" name="Rectangle 273">
            <a:extLst>
              <a:ext uri="{FF2B5EF4-FFF2-40B4-BE49-F238E27FC236}">
                <a16:creationId xmlns:a16="http://schemas.microsoft.com/office/drawing/2014/main" id="{0855A890-B60B-4670-9DC2-69DC05015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0339B-9A58-7057-227D-2B26C6C55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675" y="-4097"/>
            <a:ext cx="3634188" cy="28748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600" b="1" dirty="0"/>
              <a:t>What is an OCT  B-scan?</a:t>
            </a:r>
          </a:p>
          <a:p>
            <a:endParaRPr lang="en-US" sz="2600" b="1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22480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042549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283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687DBEB-572F-8F5E-70BE-BCB276222A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451" r="-2" b="1675"/>
          <a:stretch>
            <a:fillRect/>
          </a:stretch>
        </p:blipFill>
        <p:spPr>
          <a:xfrm>
            <a:off x="4054251" y="1416312"/>
            <a:ext cx="3703320" cy="14580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4DB87A-E6B3-B9E3-84CE-E8D393EAE5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153" r="-2" b="13780"/>
          <a:stretch>
            <a:fillRect/>
          </a:stretch>
        </p:blipFill>
        <p:spPr>
          <a:xfrm>
            <a:off x="7927572" y="1416297"/>
            <a:ext cx="3703320" cy="1458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CD9CA6-E812-403B-D7EB-68D663A208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79" r="5607" b="-2"/>
          <a:stretch>
            <a:fillRect/>
          </a:stretch>
        </p:blipFill>
        <p:spPr>
          <a:xfrm>
            <a:off x="4054251" y="4098931"/>
            <a:ext cx="3703320" cy="14558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3A7A25-3701-B40C-D9D3-C8E7D60E3B2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67" r="6319" b="-2"/>
          <a:stretch>
            <a:fillRect/>
          </a:stretch>
        </p:blipFill>
        <p:spPr>
          <a:xfrm>
            <a:off x="7932998" y="4098930"/>
            <a:ext cx="3703320" cy="14558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0E6510-0117-DF43-6948-CBDEAF9C09A8}"/>
              </a:ext>
            </a:extLst>
          </p:cNvPr>
          <p:cNvSpPr txBox="1"/>
          <p:nvPr/>
        </p:nvSpPr>
        <p:spPr>
          <a:xfrm>
            <a:off x="4802038" y="3213340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>
                <a:solidFill>
                  <a:srgbClr val="000000"/>
                </a:solidFill>
                <a:latin typeface="Aptos Display"/>
              </a:rPr>
              <a:t>Retina → Retinal layers → Abnormal region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198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7" name="Rectangle 96">
            <a:extLst>
              <a:ext uri="{FF2B5EF4-FFF2-40B4-BE49-F238E27FC236}">
                <a16:creationId xmlns:a16="http://schemas.microsoft.com/office/drawing/2014/main" id="{B0B8DCBA-FEED-46EF-A140-35B904015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1" name="Rectangle 90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3A07CB-04E9-6622-3697-51E4AE43FC73}"/>
              </a:ext>
            </a:extLst>
          </p:cNvPr>
          <p:cNvSpPr txBox="1"/>
          <p:nvPr/>
        </p:nvSpPr>
        <p:spPr>
          <a:xfrm>
            <a:off x="1043631" y="873940"/>
            <a:ext cx="4928291" cy="103578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latin typeface="+mj-lt"/>
                <a:ea typeface="+mj-ea"/>
                <a:cs typeface="+mj-cs"/>
              </a:rPr>
              <a:t>Dataset Exploration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73473A-E52B-F509-C981-3DE1A253E811}"/>
              </a:ext>
            </a:extLst>
          </p:cNvPr>
          <p:cNvSpPr txBox="1"/>
          <p:nvPr/>
        </p:nvSpPr>
        <p:spPr>
          <a:xfrm>
            <a:off x="6915509" y="1948132"/>
            <a:ext cx="6096000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600"/>
              </a:spcAft>
            </a:pPr>
            <a:r>
              <a:rPr lang="en-US" sz="3200" b="1" i="0" u="none" strike="noStrike" baseline="0">
                <a:solidFill>
                  <a:srgbClr val="0E2841"/>
                </a:solidFill>
                <a:latin typeface="Aptos"/>
                <a:ea typeface="Segoe UI"/>
                <a:cs typeface="Segoe UI"/>
              </a:rPr>
              <a:t>Our Final Selection</a:t>
            </a:r>
            <a:r>
              <a:rPr lang="en-US" sz="32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marL="342900" lvl="0" indent="-342900" algn="l" rtl="0">
              <a:spcAft>
                <a:spcPts val="600"/>
              </a:spcAft>
              <a:buFont typeface="Arial,Sans-Serif"/>
              <a:buChar char="•"/>
            </a:pPr>
            <a:r>
              <a:rPr lang="en-US" sz="20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KERMANY OCT2017</a:t>
            </a:r>
            <a:r>
              <a:rPr lang="en-US" sz="20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342900" lvl="0" indent="-342900" algn="l" rtl="0">
              <a:spcAft>
                <a:spcPts val="600"/>
              </a:spcAft>
              <a:buFont typeface="Arial,Sans-Serif"/>
              <a:buChar char="•"/>
            </a:pPr>
            <a:r>
              <a:rPr lang="en-US" sz="20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OCTDL </a:t>
            </a:r>
            <a:r>
              <a:rPr lang="en-US" sz="20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342900" lvl="0" indent="-342900" algn="l" rtl="0">
              <a:spcAft>
                <a:spcPts val="600"/>
              </a:spcAft>
              <a:buFont typeface="Arial,Sans-Serif"/>
              <a:buChar char="•"/>
            </a:pPr>
            <a:r>
              <a:rPr lang="en-US" sz="20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Clinic scans </a:t>
            </a:r>
            <a:r>
              <a:rPr lang="en-US" sz="20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algn="ctr">
              <a:spcAft>
                <a:spcPts val="600"/>
              </a:spcAft>
            </a:pPr>
            <a:endParaRPr lang="en-US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extBox 13">
            <a:extLst>
              <a:ext uri="{FF2B5EF4-FFF2-40B4-BE49-F238E27FC236}">
                <a16:creationId xmlns:a16="http://schemas.microsoft.com/office/drawing/2014/main" id="{38C60AB1-FEE5-5F01-7EDA-9A398344F7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3950958"/>
              </p:ext>
            </p:extLst>
          </p:nvPr>
        </p:nvGraphicFramePr>
        <p:xfrm>
          <a:off x="1045029" y="2524721"/>
          <a:ext cx="4991629" cy="36771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0694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77DB79-6DDD-EC03-17CF-4237489F4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Selection</a:t>
            </a: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5684C1-FACD-E542-39C8-790FD3644297}"/>
              </a:ext>
            </a:extLst>
          </p:cNvPr>
          <p:cNvSpPr txBox="1"/>
          <p:nvPr/>
        </p:nvSpPr>
        <p:spPr>
          <a:xfrm>
            <a:off x="1136397" y="2418408"/>
            <a:ext cx="4959603" cy="352256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DRUSEN showed the largest performance differences between architectures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ViT-B underperformed particularly on DRUSEN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36A8E6A-E45D-0F5B-B550-21D1EB0137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5401167"/>
              </p:ext>
            </p:extLst>
          </p:nvPr>
        </p:nvGraphicFramePr>
        <p:xfrm>
          <a:off x="6512442" y="2376057"/>
          <a:ext cx="5201026" cy="169213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08465">
                  <a:extLst>
                    <a:ext uri="{9D8B030D-6E8A-4147-A177-3AD203B41FA5}">
                      <a16:colId xmlns:a16="http://schemas.microsoft.com/office/drawing/2014/main" val="1460301644"/>
                    </a:ext>
                  </a:extLst>
                </a:gridCol>
                <a:gridCol w="1026204">
                  <a:extLst>
                    <a:ext uri="{9D8B030D-6E8A-4147-A177-3AD203B41FA5}">
                      <a16:colId xmlns:a16="http://schemas.microsoft.com/office/drawing/2014/main" val="4250864911"/>
                    </a:ext>
                  </a:extLst>
                </a:gridCol>
                <a:gridCol w="938049">
                  <a:extLst>
                    <a:ext uri="{9D8B030D-6E8A-4147-A177-3AD203B41FA5}">
                      <a16:colId xmlns:a16="http://schemas.microsoft.com/office/drawing/2014/main" val="3338649309"/>
                    </a:ext>
                  </a:extLst>
                </a:gridCol>
                <a:gridCol w="878414">
                  <a:extLst>
                    <a:ext uri="{9D8B030D-6E8A-4147-A177-3AD203B41FA5}">
                      <a16:colId xmlns:a16="http://schemas.microsoft.com/office/drawing/2014/main" val="111028243"/>
                    </a:ext>
                  </a:extLst>
                </a:gridCol>
                <a:gridCol w="849894">
                  <a:extLst>
                    <a:ext uri="{9D8B030D-6E8A-4147-A177-3AD203B41FA5}">
                      <a16:colId xmlns:a16="http://schemas.microsoft.com/office/drawing/2014/main" val="1252170059"/>
                    </a:ext>
                  </a:extLst>
                </a:gridCol>
              </a:tblGrid>
              <a:tr h="4479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Backbone</a:t>
                      </a:r>
                    </a:p>
                  </a:txBody>
                  <a:tcPr marL="69604" marR="69604" marT="34802" marB="3480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Parameters</a:t>
                      </a:r>
                    </a:p>
                  </a:txBody>
                  <a:tcPr marL="69604" marR="69604" marT="34802" marB="3480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 marL="69604" marR="69604" marT="34802" marB="3480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Macro-F1</a:t>
                      </a:r>
                    </a:p>
                  </a:txBody>
                  <a:tcPr marL="69604" marR="69604" marT="34802" marB="3480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DRUSEN Recall</a:t>
                      </a:r>
                    </a:p>
                  </a:txBody>
                  <a:tcPr marL="69604" marR="69604" marT="34802" marB="3480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885219"/>
                  </a:ext>
                </a:extLst>
              </a:tr>
              <a:tr h="3110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err="1"/>
                        <a:t>ConvNeXt</a:t>
                      </a:r>
                      <a:r>
                        <a:rPr lang="en-US" sz="1400" b="1"/>
                        <a:t>-Tiny</a:t>
                      </a:r>
                      <a:endParaRPr lang="en-US" sz="1400"/>
                    </a:p>
                  </a:txBody>
                  <a:tcPr marL="69604" marR="69604" marT="34802" marB="3480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27.8M</a:t>
                      </a:r>
                      <a:endParaRPr lang="en-US" sz="1400"/>
                    </a:p>
                  </a:txBody>
                  <a:tcPr marL="69604" marR="69604" marT="34802" marB="3480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384×256</a:t>
                      </a:r>
                      <a:endParaRPr lang="en-US" sz="1400"/>
                    </a:p>
                  </a:txBody>
                  <a:tcPr marL="69604" marR="69604" marT="34802" marB="3480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0.917</a:t>
                      </a:r>
                      <a:endParaRPr lang="en-US" sz="1400"/>
                    </a:p>
                  </a:txBody>
                  <a:tcPr marL="69604" marR="69604" marT="34802" marB="3480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0.766</a:t>
                      </a:r>
                      <a:endParaRPr lang="en-US" sz="1400"/>
                    </a:p>
                  </a:txBody>
                  <a:tcPr marL="69604" marR="69604" marT="34802" marB="3480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3594433"/>
                  </a:ext>
                </a:extLst>
              </a:tr>
              <a:tr h="3110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ResNet50</a:t>
                      </a:r>
                    </a:p>
                  </a:txBody>
                  <a:tcPr marL="69604" marR="69604" marT="34802" marB="3480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23.5M</a:t>
                      </a:r>
                    </a:p>
                  </a:txBody>
                  <a:tcPr marL="69604" marR="69604" marT="34802" marB="3480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256×256</a:t>
                      </a:r>
                    </a:p>
                  </a:txBody>
                  <a:tcPr marL="69604" marR="69604" marT="34802" marB="3480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0.901</a:t>
                      </a:r>
                    </a:p>
                  </a:txBody>
                  <a:tcPr marL="69604" marR="69604" marT="34802" marB="3480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0.667</a:t>
                      </a:r>
                    </a:p>
                  </a:txBody>
                  <a:tcPr marL="69604" marR="69604" marT="34802" marB="3480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646961"/>
                  </a:ext>
                </a:extLst>
              </a:tr>
              <a:tr h="3110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err="1"/>
                        <a:t>ViT</a:t>
                      </a:r>
                      <a:r>
                        <a:rPr lang="en-US" sz="1400"/>
                        <a:t>-B</a:t>
                      </a:r>
                    </a:p>
                  </a:txBody>
                  <a:tcPr marL="69604" marR="69604" marT="34802" marB="3480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85.8M</a:t>
                      </a:r>
                    </a:p>
                  </a:txBody>
                  <a:tcPr marL="69604" marR="69604" marT="34802" marB="3480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256×256</a:t>
                      </a:r>
                    </a:p>
                  </a:txBody>
                  <a:tcPr marL="69604" marR="69604" marT="34802" marB="3480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0.867</a:t>
                      </a:r>
                    </a:p>
                  </a:txBody>
                  <a:tcPr marL="69604" marR="69604" marT="34802" marB="3480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0.604</a:t>
                      </a:r>
                    </a:p>
                  </a:txBody>
                  <a:tcPr marL="69604" marR="69604" marT="34802" marB="3480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880500"/>
                  </a:ext>
                </a:extLst>
              </a:tr>
              <a:tr h="3110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Custom CNN</a:t>
                      </a:r>
                    </a:p>
                  </a:txBody>
                  <a:tcPr marL="69604" marR="69604" marT="34802" marB="3480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1.2M</a:t>
                      </a:r>
                    </a:p>
                  </a:txBody>
                  <a:tcPr marL="69604" marR="69604" marT="34802" marB="3480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256×256</a:t>
                      </a:r>
                    </a:p>
                  </a:txBody>
                  <a:tcPr marL="69604" marR="69604" marT="34802" marB="3480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0.785</a:t>
                      </a:r>
                    </a:p>
                  </a:txBody>
                  <a:tcPr marL="69604" marR="69604" marT="34802" marB="3480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0.583</a:t>
                      </a:r>
                    </a:p>
                  </a:txBody>
                  <a:tcPr marL="69604" marR="69604" marT="34802" marB="3480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482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8740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AB902CB9-C7DC-4673-B7D5-F22DCF0E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AB5823-A145-BCFC-15F3-AC498B14F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005" y="216325"/>
            <a:ext cx="10515595" cy="589170"/>
          </a:xfrm>
        </p:spPr>
        <p:txBody>
          <a:bodyPr anchor="b">
            <a:normAutofit fontScale="90000"/>
          </a:bodyPr>
          <a:lstStyle/>
          <a:p>
            <a:r>
              <a:rPr lang="en-US" sz="4000" b="1" dirty="0"/>
              <a:t>Data Pre-processing 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090330-0E58-B1BE-74EE-3445078B81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021" r="-3" b="13382"/>
          <a:stretch>
            <a:fillRect/>
          </a:stretch>
        </p:blipFill>
        <p:spPr>
          <a:xfrm>
            <a:off x="4967770" y="1040600"/>
            <a:ext cx="2251332" cy="16634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46AAFC-7FB1-48C7-3FA8-870D5B75C0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244" r="1" b="9046"/>
          <a:stretch>
            <a:fillRect/>
          </a:stretch>
        </p:blipFill>
        <p:spPr>
          <a:xfrm>
            <a:off x="7503891" y="1037340"/>
            <a:ext cx="2251332" cy="16885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296C01-D304-3B81-5DA8-94DDF2D432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374" r="2" b="2"/>
          <a:stretch>
            <a:fillRect/>
          </a:stretch>
        </p:blipFill>
        <p:spPr>
          <a:xfrm>
            <a:off x="199061" y="814553"/>
            <a:ext cx="2251332" cy="18739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73C5C3-6517-830B-3A44-55881308CCF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6491" r="5" b="1804"/>
          <a:stretch>
            <a:fillRect/>
          </a:stretch>
        </p:blipFill>
        <p:spPr>
          <a:xfrm>
            <a:off x="2456401" y="812781"/>
            <a:ext cx="2251332" cy="20819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F27FEF-41BA-D89E-3105-695DA7E6556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5051" r="3" b="3"/>
          <a:stretch>
            <a:fillRect/>
          </a:stretch>
        </p:blipFill>
        <p:spPr>
          <a:xfrm>
            <a:off x="9750377" y="815487"/>
            <a:ext cx="2251332" cy="2095116"/>
          </a:xfrm>
          <a:prstGeom prst="rect">
            <a:avLst/>
          </a:prstGeom>
        </p:spPr>
      </p:pic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2EC55512-3673-328E-C235-30A967C57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300" y="2405129"/>
            <a:ext cx="3516627" cy="473796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 algn="ctr">
              <a:buAutoNum type="arabicPeriod"/>
            </a:pPr>
            <a:r>
              <a:rPr lang="en-US" sz="1800" b="1" dirty="0">
                <a:ea typeface="+mn-lt"/>
                <a:cs typeface="+mn-lt"/>
              </a:rPr>
              <a:t>Raw OCT image</a:t>
            </a:r>
            <a:endParaRPr lang="en-US"/>
          </a:p>
          <a:p>
            <a:pPr marL="342900" indent="-342900" algn="ctr">
              <a:buAutoNum type="arabicPeriod"/>
            </a:pPr>
            <a:endParaRPr lang="en-US" sz="1800" b="1" dirty="0">
              <a:ea typeface="+mn-lt"/>
              <a:cs typeface="+mn-lt"/>
            </a:endParaRPr>
          </a:p>
          <a:p>
            <a:pPr marL="342900" indent="-342900" algn="ctr">
              <a:buAutoNum type="arabicPeriod"/>
            </a:pPr>
            <a:r>
              <a:rPr lang="en-US" sz="1800" b="1" dirty="0">
                <a:ea typeface="+mn-lt"/>
                <a:cs typeface="+mn-lt"/>
              </a:rPr>
              <a:t>Padding removal </a:t>
            </a:r>
            <a:endParaRPr lang="en-US" sz="1800" dirty="0">
              <a:ea typeface="+mn-lt"/>
              <a:cs typeface="+mn-lt"/>
            </a:endParaRPr>
          </a:p>
          <a:p>
            <a:pPr marL="342900" indent="-342900" algn="ctr">
              <a:buAutoNum type="arabicPeriod"/>
            </a:pPr>
            <a:endParaRPr lang="en-US" sz="1800" b="1" dirty="0">
              <a:ea typeface="+mn-lt"/>
              <a:cs typeface="+mn-lt"/>
            </a:endParaRPr>
          </a:p>
          <a:p>
            <a:pPr marL="342900" indent="-342900" algn="ctr">
              <a:buAutoNum type="arabicPeriod"/>
            </a:pPr>
            <a:r>
              <a:rPr lang="en-US" sz="1800" b="1" dirty="0">
                <a:ea typeface="+mn-lt"/>
                <a:cs typeface="+mn-lt"/>
              </a:rPr>
              <a:t>Cropping of retinal band</a:t>
            </a:r>
            <a:r>
              <a:rPr lang="en-US" sz="1800" dirty="0">
                <a:ea typeface="+mn-lt"/>
                <a:cs typeface="+mn-lt"/>
              </a:rPr>
              <a:t> </a:t>
            </a:r>
          </a:p>
          <a:p>
            <a:pPr marL="342900" indent="-342900" algn="ctr">
              <a:buAutoNum type="arabicPeriod"/>
            </a:pPr>
            <a:endParaRPr lang="en-US" sz="1800" dirty="0">
              <a:ea typeface="+mn-lt"/>
              <a:cs typeface="+mn-lt"/>
            </a:endParaRPr>
          </a:p>
          <a:p>
            <a:pPr marL="342900" indent="-342900" algn="ctr">
              <a:buAutoNum type="arabicPeriod"/>
            </a:pPr>
            <a:r>
              <a:rPr lang="en-US" sz="1800" b="1" dirty="0">
                <a:ea typeface="+mn-lt"/>
                <a:cs typeface="+mn-lt"/>
              </a:rPr>
              <a:t>Flatten Retinal curvature</a:t>
            </a:r>
          </a:p>
          <a:p>
            <a:pPr marL="342900" indent="-342900" algn="ctr">
              <a:buAutoNum type="arabicPeriod"/>
            </a:pPr>
            <a:endParaRPr lang="en-US"/>
          </a:p>
          <a:p>
            <a:pPr marL="342900" indent="-342900" algn="ctr">
              <a:buAutoNum type="arabicPeriod"/>
            </a:pPr>
            <a:r>
              <a:rPr lang="en-US" sz="1800" b="1" dirty="0">
                <a:ea typeface="+mn-lt"/>
                <a:cs typeface="+mn-lt"/>
              </a:rPr>
              <a:t>Normalize Intensity </a:t>
            </a:r>
            <a:endParaRPr lang="en-US" sz="1800" dirty="0">
              <a:ea typeface="+mn-lt"/>
              <a:cs typeface="+mn-lt"/>
            </a:endParaRPr>
          </a:p>
          <a:p>
            <a:pPr marL="342900" indent="-342900" algn="ctr">
              <a:buAutoNum type="arabicPeriod"/>
            </a:pPr>
            <a:endParaRPr lang="en-US" sz="1800" b="1" dirty="0">
              <a:ea typeface="+mn-lt"/>
              <a:cs typeface="+mn-lt"/>
            </a:endParaRPr>
          </a:p>
          <a:p>
            <a:pPr marL="342900" indent="-342900" algn="ctr">
              <a:buAutoNum type="arabicPeriod"/>
            </a:pPr>
            <a:r>
              <a:rPr lang="en-US" sz="1800" b="1" dirty="0">
                <a:ea typeface="+mn-lt"/>
                <a:cs typeface="+mn-lt"/>
              </a:rPr>
              <a:t>Resize to 384×256 frame</a:t>
            </a:r>
            <a:endParaRPr lang="en-US" sz="1800" dirty="0"/>
          </a:p>
          <a:p>
            <a:pPr marL="0" indent="0" algn="ctr">
              <a:buNone/>
            </a:pPr>
            <a:endParaRPr lang="en-US" sz="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4F1078-19BC-EBD8-991F-01EC1FFFCBBB}"/>
              </a:ext>
            </a:extLst>
          </p:cNvPr>
          <p:cNvSpPr txBox="1"/>
          <p:nvPr/>
        </p:nvSpPr>
        <p:spPr>
          <a:xfrm>
            <a:off x="4856429" y="2740477"/>
            <a:ext cx="7154642" cy="28577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b="1" dirty="0">
                <a:ea typeface="+mn-lt"/>
                <a:cs typeface="+mn-lt"/>
              </a:rPr>
              <a:t>Why this pipeline?</a:t>
            </a:r>
            <a:endParaRPr lang="en-US" dirty="0">
              <a:ea typeface="+mn-lt"/>
              <a:cs typeface="+mn-lt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b="1" dirty="0">
                <a:ea typeface="+mn-lt"/>
                <a:cs typeface="+mn-lt"/>
              </a:rPr>
              <a:t>Curvature correction 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dirty="0">
                <a:ea typeface="+mn-lt"/>
                <a:cs typeface="+mn-lt"/>
              </a:rPr>
              <a:t>Improve DRUSEN recall by 12 – 14%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b="1" dirty="0">
                <a:ea typeface="+mn-lt"/>
                <a:cs typeface="+mn-lt"/>
              </a:rPr>
              <a:t>Retinal Cropping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dirty="0">
                <a:ea typeface="+mn-lt"/>
                <a:cs typeface="+mn-lt"/>
              </a:rPr>
              <a:t>Achieved the best Macro-F1 (0.894) with fewer pixels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b="1" dirty="0">
                <a:ea typeface="+mn-lt"/>
                <a:cs typeface="+mn-lt"/>
              </a:rPr>
              <a:t>Letterboxing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Lowest Macro-F1 (0.490) and introduced scanner specific padding that reduced generalization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156CE3C6-ED19-2543-A68E-9C99BA043C32}"/>
              </a:ext>
            </a:extLst>
          </p:cNvPr>
          <p:cNvSpPr/>
          <p:nvPr/>
        </p:nvSpPr>
        <p:spPr>
          <a:xfrm>
            <a:off x="1960602" y="2746369"/>
            <a:ext cx="87438" cy="3004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7C5846FE-AC76-0D1E-18CD-B62CE701BD81}"/>
              </a:ext>
            </a:extLst>
          </p:cNvPr>
          <p:cNvSpPr/>
          <p:nvPr/>
        </p:nvSpPr>
        <p:spPr>
          <a:xfrm>
            <a:off x="1960602" y="3467729"/>
            <a:ext cx="87438" cy="3004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60FB5563-7DB3-4A0C-F118-975780F97FBB}"/>
              </a:ext>
            </a:extLst>
          </p:cNvPr>
          <p:cNvSpPr/>
          <p:nvPr/>
        </p:nvSpPr>
        <p:spPr>
          <a:xfrm>
            <a:off x="1960602" y="4260209"/>
            <a:ext cx="87438" cy="3004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BCDB767A-1923-3EEF-3ABD-FEE07CFC94ED}"/>
              </a:ext>
            </a:extLst>
          </p:cNvPr>
          <p:cNvSpPr/>
          <p:nvPr/>
        </p:nvSpPr>
        <p:spPr>
          <a:xfrm>
            <a:off x="1960602" y="5052689"/>
            <a:ext cx="87438" cy="3004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928AF5DC-17AD-7DE4-B200-8896EAA252DD}"/>
              </a:ext>
            </a:extLst>
          </p:cNvPr>
          <p:cNvSpPr/>
          <p:nvPr/>
        </p:nvSpPr>
        <p:spPr>
          <a:xfrm>
            <a:off x="1919962" y="6017889"/>
            <a:ext cx="87438" cy="3004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761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7" name="Rectangle 126">
            <a:extLst>
              <a:ext uri="{FF2B5EF4-FFF2-40B4-BE49-F238E27FC236}">
                <a16:creationId xmlns:a16="http://schemas.microsoft.com/office/drawing/2014/main" id="{26469B27-0875-4891-8EA7-C223CCDF5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79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13CD3C-BE5A-6045-89C9-234548FBB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68" y="221410"/>
            <a:ext cx="7008314" cy="1238753"/>
          </a:xfrm>
        </p:spPr>
        <p:txBody>
          <a:bodyPr>
            <a:normAutofit/>
          </a:bodyPr>
          <a:lstStyle/>
          <a:p>
            <a:r>
              <a:rPr lang="en-US" sz="3600" b="1" dirty="0"/>
              <a:t>Where the model looks: Grad-CAM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5E17A-1F97-43BF-714F-911975408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28" y="1512241"/>
            <a:ext cx="5441184" cy="392053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Highlights which part of the scan drove the decision via a heatmap laid over the original image</a:t>
            </a:r>
          </a:p>
          <a:p>
            <a:r>
              <a:rPr lang="en-US" sz="2000"/>
              <a:t>Heatmap then lands on the retinal tissue at all 4 classes on correct predictions. </a:t>
            </a:r>
          </a:p>
          <a:p>
            <a:endParaRPr lang="en-US" sz="2000"/>
          </a:p>
        </p:txBody>
      </p: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6DF9758E-84A8-4D80-8A81-38FBBC532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7516" y="0"/>
            <a:ext cx="4684485" cy="6858000"/>
          </a:xfrm>
          <a:custGeom>
            <a:avLst/>
            <a:gdLst>
              <a:gd name="connsiteX0" fmla="*/ 777179 w 4684485"/>
              <a:gd name="connsiteY0" fmla="*/ 0 h 6858000"/>
              <a:gd name="connsiteX1" fmla="*/ 4177011 w 4684485"/>
              <a:gd name="connsiteY1" fmla="*/ 0 h 6858000"/>
              <a:gd name="connsiteX2" fmla="*/ 4684485 w 4684485"/>
              <a:gd name="connsiteY2" fmla="*/ 0 h 6858000"/>
              <a:gd name="connsiteX3" fmla="*/ 4684485 w 4684485"/>
              <a:gd name="connsiteY3" fmla="*/ 6858000 h 6858000"/>
              <a:gd name="connsiteX4" fmla="*/ 4177011 w 4684485"/>
              <a:gd name="connsiteY4" fmla="*/ 6858000 h 6858000"/>
              <a:gd name="connsiteX5" fmla="*/ 0 w 4684485"/>
              <a:gd name="connsiteY5" fmla="*/ 6858000 h 6858000"/>
              <a:gd name="connsiteX6" fmla="*/ 2140 w 4684485"/>
              <a:gd name="connsiteY6" fmla="*/ 6853227 h 6858000"/>
              <a:gd name="connsiteX7" fmla="*/ 2645 w 4684485"/>
              <a:gd name="connsiteY7" fmla="*/ 6843360 h 6858000"/>
              <a:gd name="connsiteX8" fmla="*/ 5504 w 4684485"/>
              <a:gd name="connsiteY8" fmla="*/ 6818176 h 6858000"/>
              <a:gd name="connsiteX9" fmla="*/ 23629 w 4684485"/>
              <a:gd name="connsiteY9" fmla="*/ 6757651 h 6858000"/>
              <a:gd name="connsiteX10" fmla="*/ 58208 w 4684485"/>
              <a:gd name="connsiteY10" fmla="*/ 6674068 h 6858000"/>
              <a:gd name="connsiteX11" fmla="*/ 95020 w 4684485"/>
              <a:gd name="connsiteY11" fmla="*/ 6610847 h 6858000"/>
              <a:gd name="connsiteX12" fmla="*/ 65470 w 4684485"/>
              <a:gd name="connsiteY12" fmla="*/ 6624123 h 6858000"/>
              <a:gd name="connsiteX13" fmla="*/ 137286 w 4684485"/>
              <a:gd name="connsiteY13" fmla="*/ 6588010 h 6858000"/>
              <a:gd name="connsiteX14" fmla="*/ 180635 w 4684485"/>
              <a:gd name="connsiteY14" fmla="*/ 6495275 h 6858000"/>
              <a:gd name="connsiteX15" fmla="*/ 205042 w 4684485"/>
              <a:gd name="connsiteY15" fmla="*/ 6422756 h 6858000"/>
              <a:gd name="connsiteX16" fmla="*/ 209632 w 4684485"/>
              <a:gd name="connsiteY16" fmla="*/ 6358596 h 6858000"/>
              <a:gd name="connsiteX17" fmla="*/ 219796 w 4684485"/>
              <a:gd name="connsiteY17" fmla="*/ 6294314 h 6858000"/>
              <a:gd name="connsiteX18" fmla="*/ 248261 w 4684485"/>
              <a:gd name="connsiteY18" fmla="*/ 6248557 h 6858000"/>
              <a:gd name="connsiteX19" fmla="*/ 286066 w 4684485"/>
              <a:gd name="connsiteY19" fmla="*/ 5959276 h 6858000"/>
              <a:gd name="connsiteX20" fmla="*/ 285981 w 4684485"/>
              <a:gd name="connsiteY20" fmla="*/ 5957154 h 6858000"/>
              <a:gd name="connsiteX21" fmla="*/ 291575 w 4684485"/>
              <a:gd name="connsiteY21" fmla="*/ 5941942 h 6858000"/>
              <a:gd name="connsiteX22" fmla="*/ 294764 w 4684485"/>
              <a:gd name="connsiteY22" fmla="*/ 5940122 h 6858000"/>
              <a:gd name="connsiteX23" fmla="*/ 299218 w 4684485"/>
              <a:gd name="connsiteY23" fmla="*/ 5930161 h 6858000"/>
              <a:gd name="connsiteX24" fmla="*/ 309655 w 4684485"/>
              <a:gd name="connsiteY24" fmla="*/ 5911810 h 6858000"/>
              <a:gd name="connsiteX25" fmla="*/ 310049 w 4684485"/>
              <a:gd name="connsiteY25" fmla="*/ 5907181 h 6858000"/>
              <a:gd name="connsiteX26" fmla="*/ 323362 w 4684485"/>
              <a:gd name="connsiteY26" fmla="*/ 5877642 h 6858000"/>
              <a:gd name="connsiteX27" fmla="*/ 322807 w 4684485"/>
              <a:gd name="connsiteY27" fmla="*/ 5876666 h 6858000"/>
              <a:gd name="connsiteX28" fmla="*/ 323332 w 4684485"/>
              <a:gd name="connsiteY28" fmla="*/ 5865860 h 6858000"/>
              <a:gd name="connsiteX29" fmla="*/ 326018 w 4684485"/>
              <a:gd name="connsiteY29" fmla="*/ 5846502 h 6858000"/>
              <a:gd name="connsiteX30" fmla="*/ 323071 w 4684485"/>
              <a:gd name="connsiteY30" fmla="*/ 5794837 h 6858000"/>
              <a:gd name="connsiteX31" fmla="*/ 336871 w 4684485"/>
              <a:gd name="connsiteY31" fmla="*/ 5763977 h 6858000"/>
              <a:gd name="connsiteX32" fmla="*/ 339251 w 4684485"/>
              <a:gd name="connsiteY32" fmla="*/ 5757443 h 6858000"/>
              <a:gd name="connsiteX33" fmla="*/ 339135 w 4684485"/>
              <a:gd name="connsiteY33" fmla="*/ 5757177 h 6858000"/>
              <a:gd name="connsiteX34" fmla="*/ 341319 w 4684485"/>
              <a:gd name="connsiteY34" fmla="*/ 5750018 h 6858000"/>
              <a:gd name="connsiteX35" fmla="*/ 343592 w 4684485"/>
              <a:gd name="connsiteY35" fmla="*/ 5745527 h 6858000"/>
              <a:gd name="connsiteX36" fmla="*/ 348207 w 4684485"/>
              <a:gd name="connsiteY36" fmla="*/ 5732850 h 6858000"/>
              <a:gd name="connsiteX37" fmla="*/ 348708 w 4684485"/>
              <a:gd name="connsiteY37" fmla="*/ 5727596 h 6858000"/>
              <a:gd name="connsiteX38" fmla="*/ 339704 w 4684485"/>
              <a:gd name="connsiteY38" fmla="*/ 5678917 h 6858000"/>
              <a:gd name="connsiteX39" fmla="*/ 349027 w 4684485"/>
              <a:gd name="connsiteY39" fmla="*/ 5587240 h 6858000"/>
              <a:gd name="connsiteX40" fmla="*/ 360744 w 4684485"/>
              <a:gd name="connsiteY40" fmla="*/ 5496420 h 6858000"/>
              <a:gd name="connsiteX41" fmla="*/ 366191 w 4684485"/>
              <a:gd name="connsiteY41" fmla="*/ 5463512 h 6858000"/>
              <a:gd name="connsiteX42" fmla="*/ 370586 w 4684485"/>
              <a:gd name="connsiteY42" fmla="*/ 5404966 h 6858000"/>
              <a:gd name="connsiteX43" fmla="*/ 369304 w 4684485"/>
              <a:gd name="connsiteY43" fmla="*/ 5378223 h 6858000"/>
              <a:gd name="connsiteX44" fmla="*/ 369813 w 4684485"/>
              <a:gd name="connsiteY44" fmla="*/ 5377039 h 6858000"/>
              <a:gd name="connsiteX45" fmla="*/ 367865 w 4684485"/>
              <a:gd name="connsiteY45" fmla="*/ 5374688 h 6858000"/>
              <a:gd name="connsiteX46" fmla="*/ 367550 w 4684485"/>
              <a:gd name="connsiteY46" fmla="*/ 5369744 h 6858000"/>
              <a:gd name="connsiteX47" fmla="*/ 370308 w 4684485"/>
              <a:gd name="connsiteY47" fmla="*/ 5356163 h 6858000"/>
              <a:gd name="connsiteX48" fmla="*/ 371942 w 4684485"/>
              <a:gd name="connsiteY48" fmla="*/ 5351044 h 6858000"/>
              <a:gd name="connsiteX49" fmla="*/ 373062 w 4684485"/>
              <a:gd name="connsiteY49" fmla="*/ 5343580 h 6858000"/>
              <a:gd name="connsiteX50" fmla="*/ 372900 w 4684485"/>
              <a:gd name="connsiteY50" fmla="*/ 5343400 h 6858000"/>
              <a:gd name="connsiteX51" fmla="*/ 374322 w 4684485"/>
              <a:gd name="connsiteY51" fmla="*/ 5336400 h 6858000"/>
              <a:gd name="connsiteX52" fmla="*/ 383674 w 4684485"/>
              <a:gd name="connsiteY52" fmla="*/ 5302100 h 6858000"/>
              <a:gd name="connsiteX53" fmla="*/ 372456 w 4684485"/>
              <a:gd name="connsiteY53" fmla="*/ 5257295 h 6858000"/>
              <a:gd name="connsiteX54" fmla="*/ 372166 w 4684485"/>
              <a:gd name="connsiteY54" fmla="*/ 5238668 h 6858000"/>
              <a:gd name="connsiteX55" fmla="*/ 370995 w 4684485"/>
              <a:gd name="connsiteY55" fmla="*/ 5228745 h 6858000"/>
              <a:gd name="connsiteX56" fmla="*/ 370266 w 4684485"/>
              <a:gd name="connsiteY56" fmla="*/ 5228139 h 6858000"/>
              <a:gd name="connsiteX57" fmla="*/ 379329 w 4684485"/>
              <a:gd name="connsiteY57" fmla="*/ 5195257 h 6858000"/>
              <a:gd name="connsiteX58" fmla="*/ 379004 w 4684485"/>
              <a:gd name="connsiteY58" fmla="*/ 5190924 h 6858000"/>
              <a:gd name="connsiteX59" fmla="*/ 386868 w 4684485"/>
              <a:gd name="connsiteY59" fmla="*/ 5169448 h 6858000"/>
              <a:gd name="connsiteX60" fmla="*/ 389886 w 4684485"/>
              <a:gd name="connsiteY60" fmla="*/ 5158375 h 6858000"/>
              <a:gd name="connsiteX61" fmla="*/ 392889 w 4684485"/>
              <a:gd name="connsiteY61" fmla="*/ 5155200 h 6858000"/>
              <a:gd name="connsiteX62" fmla="*/ 396254 w 4684485"/>
              <a:gd name="connsiteY62" fmla="*/ 5138880 h 6858000"/>
              <a:gd name="connsiteX63" fmla="*/ 395829 w 4684485"/>
              <a:gd name="connsiteY63" fmla="*/ 5137025 h 6858000"/>
              <a:gd name="connsiteX64" fmla="*/ 401622 w 4684485"/>
              <a:gd name="connsiteY64" fmla="*/ 5123497 h 6858000"/>
              <a:gd name="connsiteX65" fmla="*/ 410123 w 4684485"/>
              <a:gd name="connsiteY65" fmla="*/ 5112085 h 6858000"/>
              <a:gd name="connsiteX66" fmla="*/ 427310 w 4684485"/>
              <a:gd name="connsiteY66" fmla="*/ 4973536 h 6858000"/>
              <a:gd name="connsiteX67" fmla="*/ 473870 w 4684485"/>
              <a:gd name="connsiteY67" fmla="*/ 4853262 h 6858000"/>
              <a:gd name="connsiteX68" fmla="*/ 523687 w 4684485"/>
              <a:gd name="connsiteY68" fmla="*/ 4579511 h 6858000"/>
              <a:gd name="connsiteX69" fmla="*/ 596846 w 4684485"/>
              <a:gd name="connsiteY69" fmla="*/ 4088638 h 6858000"/>
              <a:gd name="connsiteX70" fmla="*/ 609911 w 4684485"/>
              <a:gd name="connsiteY70" fmla="*/ 3862564 h 6858000"/>
              <a:gd name="connsiteX71" fmla="*/ 620392 w 4684485"/>
              <a:gd name="connsiteY71" fmla="*/ 3821134 h 6858000"/>
              <a:gd name="connsiteX72" fmla="*/ 626965 w 4684485"/>
              <a:gd name="connsiteY72" fmla="*/ 3810557 h 6858000"/>
              <a:gd name="connsiteX73" fmla="*/ 652536 w 4684485"/>
              <a:gd name="connsiteY73" fmla="*/ 3736429 h 6858000"/>
              <a:gd name="connsiteX74" fmla="*/ 659855 w 4684485"/>
              <a:gd name="connsiteY74" fmla="*/ 3715640 h 6858000"/>
              <a:gd name="connsiteX75" fmla="*/ 662133 w 4684485"/>
              <a:gd name="connsiteY75" fmla="*/ 3696308 h 6858000"/>
              <a:gd name="connsiteX76" fmla="*/ 659163 w 4684485"/>
              <a:gd name="connsiteY76" fmla="*/ 3690549 h 6858000"/>
              <a:gd name="connsiteX77" fmla="*/ 662546 w 4684485"/>
              <a:gd name="connsiteY77" fmla="*/ 3678883 h 6858000"/>
              <a:gd name="connsiteX78" fmla="*/ 662606 w 4684485"/>
              <a:gd name="connsiteY78" fmla="*/ 3675471 h 6858000"/>
              <a:gd name="connsiteX79" fmla="*/ 663794 w 4684485"/>
              <a:gd name="connsiteY79" fmla="*/ 3656229 h 6858000"/>
              <a:gd name="connsiteX80" fmla="*/ 687156 w 4684485"/>
              <a:gd name="connsiteY80" fmla="*/ 3622733 h 6858000"/>
              <a:gd name="connsiteX81" fmla="*/ 698770 w 4684485"/>
              <a:gd name="connsiteY81" fmla="*/ 3575278 h 6858000"/>
              <a:gd name="connsiteX82" fmla="*/ 763441 w 4684485"/>
              <a:gd name="connsiteY82" fmla="*/ 3372843 h 6858000"/>
              <a:gd name="connsiteX83" fmla="*/ 851549 w 4684485"/>
              <a:gd name="connsiteY83" fmla="*/ 3204760 h 6858000"/>
              <a:gd name="connsiteX84" fmla="*/ 895113 w 4684485"/>
              <a:gd name="connsiteY84" fmla="*/ 3073177 h 6858000"/>
              <a:gd name="connsiteX85" fmla="*/ 904829 w 4684485"/>
              <a:gd name="connsiteY85" fmla="*/ 3066373 h 6858000"/>
              <a:gd name="connsiteX86" fmla="*/ 912657 w 4684485"/>
              <a:gd name="connsiteY86" fmla="*/ 3053733 h 6858000"/>
              <a:gd name="connsiteX87" fmla="*/ 922201 w 4684485"/>
              <a:gd name="connsiteY87" fmla="*/ 3037464 h 6858000"/>
              <a:gd name="connsiteX88" fmla="*/ 927105 w 4684485"/>
              <a:gd name="connsiteY88" fmla="*/ 3027885 h 6858000"/>
              <a:gd name="connsiteX89" fmla="*/ 938351 w 4684485"/>
              <a:gd name="connsiteY89" fmla="*/ 3010448 h 6858000"/>
              <a:gd name="connsiteX90" fmla="*/ 938967 w 4684485"/>
              <a:gd name="connsiteY90" fmla="*/ 3005842 h 6858000"/>
              <a:gd name="connsiteX91" fmla="*/ 953615 w 4684485"/>
              <a:gd name="connsiteY91" fmla="*/ 2977449 h 6858000"/>
              <a:gd name="connsiteX92" fmla="*/ 953111 w 4684485"/>
              <a:gd name="connsiteY92" fmla="*/ 2976418 h 6858000"/>
              <a:gd name="connsiteX93" fmla="*/ 954155 w 4684485"/>
              <a:gd name="connsiteY93" fmla="*/ 2965627 h 6858000"/>
              <a:gd name="connsiteX94" fmla="*/ 957765 w 4684485"/>
              <a:gd name="connsiteY94" fmla="*/ 2946457 h 6858000"/>
              <a:gd name="connsiteX95" fmla="*/ 957350 w 4684485"/>
              <a:gd name="connsiteY95" fmla="*/ 2894353 h 6858000"/>
              <a:gd name="connsiteX96" fmla="*/ 972544 w 4684485"/>
              <a:gd name="connsiteY96" fmla="*/ 2864679 h 6858000"/>
              <a:gd name="connsiteX97" fmla="*/ 975222 w 4684485"/>
              <a:gd name="connsiteY97" fmla="*/ 2858346 h 6858000"/>
              <a:gd name="connsiteX98" fmla="*/ 975121 w 4684485"/>
              <a:gd name="connsiteY98" fmla="*/ 2858070 h 6858000"/>
              <a:gd name="connsiteX99" fmla="*/ 977634 w 4684485"/>
              <a:gd name="connsiteY99" fmla="*/ 2851093 h 6858000"/>
              <a:gd name="connsiteX100" fmla="*/ 980107 w 4684485"/>
              <a:gd name="connsiteY100" fmla="*/ 2846800 h 6858000"/>
              <a:gd name="connsiteX101" fmla="*/ 985305 w 4684485"/>
              <a:gd name="connsiteY101" fmla="*/ 2834510 h 6858000"/>
              <a:gd name="connsiteX102" fmla="*/ 986057 w 4684485"/>
              <a:gd name="connsiteY102" fmla="*/ 2829288 h 6858000"/>
              <a:gd name="connsiteX103" fmla="*/ 984861 w 4684485"/>
              <a:gd name="connsiteY103" fmla="*/ 2825781 h 6858000"/>
              <a:gd name="connsiteX104" fmla="*/ 985547 w 4684485"/>
              <a:gd name="connsiteY104" fmla="*/ 2824862 h 6858000"/>
              <a:gd name="connsiteX105" fmla="*/ 989979 w 4684485"/>
              <a:gd name="connsiteY105" fmla="*/ 2796846 h 6858000"/>
              <a:gd name="connsiteX106" fmla="*/ 1005909 w 4684485"/>
              <a:gd name="connsiteY106" fmla="*/ 2739609 h 6858000"/>
              <a:gd name="connsiteX107" fmla="*/ 1017437 w 4684485"/>
              <a:gd name="connsiteY107" fmla="*/ 2709132 h 6858000"/>
              <a:gd name="connsiteX108" fmla="*/ 1046385 w 4684485"/>
              <a:gd name="connsiteY108" fmla="*/ 2623133 h 6858000"/>
              <a:gd name="connsiteX109" fmla="*/ 1073441 w 4684485"/>
              <a:gd name="connsiteY109" fmla="*/ 2534899 h 6858000"/>
              <a:gd name="connsiteX110" fmla="*/ 1075743 w 4684485"/>
              <a:gd name="connsiteY110" fmla="*/ 2480106 h 6858000"/>
              <a:gd name="connsiteX111" fmla="*/ 1077265 w 4684485"/>
              <a:gd name="connsiteY111" fmla="*/ 2475030 h 6858000"/>
              <a:gd name="connsiteX112" fmla="*/ 1083883 w 4684485"/>
              <a:gd name="connsiteY112" fmla="*/ 2464722 h 6858000"/>
              <a:gd name="connsiteX113" fmla="*/ 1086777 w 4684485"/>
              <a:gd name="connsiteY113" fmla="*/ 2461434 h 6858000"/>
              <a:gd name="connsiteX114" fmla="*/ 1087126 w 4684485"/>
              <a:gd name="connsiteY114" fmla="*/ 2460806 h 6858000"/>
              <a:gd name="connsiteX115" fmla="*/ 1087083 w 4684485"/>
              <a:gd name="connsiteY115" fmla="*/ 2460453 h 6858000"/>
              <a:gd name="connsiteX116" fmla="*/ 1090877 w 4684485"/>
              <a:gd name="connsiteY116" fmla="*/ 2442912 h 6858000"/>
              <a:gd name="connsiteX117" fmla="*/ 1084594 w 4684485"/>
              <a:gd name="connsiteY117" fmla="*/ 2393943 h 6858000"/>
              <a:gd name="connsiteX118" fmla="*/ 1095187 w 4684485"/>
              <a:gd name="connsiteY118" fmla="*/ 2145620 h 6858000"/>
              <a:gd name="connsiteX119" fmla="*/ 1091005 w 4684485"/>
              <a:gd name="connsiteY119" fmla="*/ 1974931 h 6858000"/>
              <a:gd name="connsiteX120" fmla="*/ 1090021 w 4684485"/>
              <a:gd name="connsiteY120" fmla="*/ 1820662 h 6858000"/>
              <a:gd name="connsiteX121" fmla="*/ 1095393 w 4684485"/>
              <a:gd name="connsiteY121" fmla="*/ 1784755 h 6858000"/>
              <a:gd name="connsiteX122" fmla="*/ 1100337 w 4684485"/>
              <a:gd name="connsiteY122" fmla="*/ 1751246 h 6858000"/>
              <a:gd name="connsiteX123" fmla="*/ 1099270 w 4684485"/>
              <a:gd name="connsiteY123" fmla="*/ 1746792 h 6858000"/>
              <a:gd name="connsiteX124" fmla="*/ 1102388 w 4684485"/>
              <a:gd name="connsiteY124" fmla="*/ 1712948 h 6858000"/>
              <a:gd name="connsiteX125" fmla="*/ 1101575 w 4684485"/>
              <a:gd name="connsiteY125" fmla="*/ 1712332 h 6858000"/>
              <a:gd name="connsiteX126" fmla="*/ 1098721 w 4684485"/>
              <a:gd name="connsiteY126" fmla="*/ 1702136 h 6858000"/>
              <a:gd name="connsiteX127" fmla="*/ 1095215 w 4684485"/>
              <a:gd name="connsiteY127" fmla="*/ 1682992 h 6858000"/>
              <a:gd name="connsiteX128" fmla="*/ 1076555 w 4684485"/>
              <a:gd name="connsiteY128" fmla="*/ 1636988 h 6858000"/>
              <a:gd name="connsiteX129" fmla="*/ 1079711 w 4684485"/>
              <a:gd name="connsiteY129" fmla="*/ 1601685 h 6858000"/>
              <a:gd name="connsiteX130" fmla="*/ 1079881 w 4684485"/>
              <a:gd name="connsiteY130" fmla="*/ 1594484 h 6858000"/>
              <a:gd name="connsiteX131" fmla="*/ 1079691 w 4684485"/>
              <a:gd name="connsiteY131" fmla="*/ 1594298 h 6858000"/>
              <a:gd name="connsiteX132" fmla="*/ 1079489 w 4684485"/>
              <a:gd name="connsiteY132" fmla="*/ 1586621 h 6858000"/>
              <a:gd name="connsiteX133" fmla="*/ 1080191 w 4684485"/>
              <a:gd name="connsiteY133" fmla="*/ 1581350 h 6858000"/>
              <a:gd name="connsiteX134" fmla="*/ 1080520 w 4684485"/>
              <a:gd name="connsiteY134" fmla="*/ 1567378 h 6858000"/>
              <a:gd name="connsiteX135" fmla="*/ 1079357 w 4684485"/>
              <a:gd name="connsiteY135" fmla="*/ 1562296 h 6858000"/>
              <a:gd name="connsiteX136" fmla="*/ 1056053 w 4684485"/>
              <a:gd name="connsiteY136" fmla="*/ 1522084 h 6858000"/>
              <a:gd name="connsiteX137" fmla="*/ 1013893 w 4684485"/>
              <a:gd name="connsiteY137" fmla="*/ 1310783 h 6858000"/>
              <a:gd name="connsiteX138" fmla="*/ 999857 w 4684485"/>
              <a:gd name="connsiteY138" fmla="*/ 1254761 h 6858000"/>
              <a:gd name="connsiteX139" fmla="*/ 988009 w 4684485"/>
              <a:gd name="connsiteY139" fmla="*/ 1228301 h 6858000"/>
              <a:gd name="connsiteX140" fmla="*/ 986193 w 4684485"/>
              <a:gd name="connsiteY140" fmla="*/ 1223915 h 6858000"/>
              <a:gd name="connsiteX141" fmla="*/ 984535 w 4684485"/>
              <a:gd name="connsiteY141" fmla="*/ 1210047 h 6858000"/>
              <a:gd name="connsiteX142" fmla="*/ 984455 w 4684485"/>
              <a:gd name="connsiteY142" fmla="*/ 1204520 h 6858000"/>
              <a:gd name="connsiteX143" fmla="*/ 983181 w 4684485"/>
              <a:gd name="connsiteY143" fmla="*/ 1197097 h 6858000"/>
              <a:gd name="connsiteX144" fmla="*/ 982976 w 4684485"/>
              <a:gd name="connsiteY144" fmla="*/ 1197013 h 6858000"/>
              <a:gd name="connsiteX145" fmla="*/ 982123 w 4684485"/>
              <a:gd name="connsiteY145" fmla="*/ 1189862 h 6858000"/>
              <a:gd name="connsiteX146" fmla="*/ 980128 w 4684485"/>
              <a:gd name="connsiteY146" fmla="*/ 1153636 h 6858000"/>
              <a:gd name="connsiteX147" fmla="*/ 955984 w 4684485"/>
              <a:gd name="connsiteY147" fmla="*/ 1118095 h 6858000"/>
              <a:gd name="connsiteX148" fmla="*/ 949966 w 4684485"/>
              <a:gd name="connsiteY148" fmla="*/ 1101120 h 6858000"/>
              <a:gd name="connsiteX149" fmla="*/ 945827 w 4684485"/>
              <a:gd name="connsiteY149" fmla="*/ 1092587 h 6858000"/>
              <a:gd name="connsiteX150" fmla="*/ 944973 w 4684485"/>
              <a:gd name="connsiteY150" fmla="*/ 1092398 h 6858000"/>
              <a:gd name="connsiteX151" fmla="*/ 941512 w 4684485"/>
              <a:gd name="connsiteY151" fmla="*/ 1053799 h 6858000"/>
              <a:gd name="connsiteX152" fmla="*/ 943245 w 4684485"/>
              <a:gd name="connsiteY152" fmla="*/ 1013984 h 6858000"/>
              <a:gd name="connsiteX153" fmla="*/ 941298 w 4684485"/>
              <a:gd name="connsiteY153" fmla="*/ 997293 h 6858000"/>
              <a:gd name="connsiteX154" fmla="*/ 940335 w 4684485"/>
              <a:gd name="connsiteY154" fmla="*/ 995801 h 6858000"/>
              <a:gd name="connsiteX155" fmla="*/ 941482 w 4684485"/>
              <a:gd name="connsiteY155" fmla="*/ 980455 h 6858000"/>
              <a:gd name="connsiteX156" fmla="*/ 945774 w 4684485"/>
              <a:gd name="connsiteY156" fmla="*/ 965691 h 6858000"/>
              <a:gd name="connsiteX157" fmla="*/ 918795 w 4684485"/>
              <a:gd name="connsiteY157" fmla="*/ 829709 h 6858000"/>
              <a:gd name="connsiteX158" fmla="*/ 909069 w 4684485"/>
              <a:gd name="connsiteY158" fmla="*/ 622375 h 6858000"/>
              <a:gd name="connsiteX159" fmla="*/ 891618 w 4684485"/>
              <a:gd name="connsiteY159" fmla="*/ 452257 h 6858000"/>
              <a:gd name="connsiteX160" fmla="*/ 852916 w 4684485"/>
              <a:gd name="connsiteY160" fmla="*/ 370816 h 6858000"/>
              <a:gd name="connsiteX161" fmla="*/ 855402 w 4684485"/>
              <a:gd name="connsiteY161" fmla="*/ 323482 h 6858000"/>
              <a:gd name="connsiteX162" fmla="*/ 847506 w 4684485"/>
              <a:gd name="connsiteY162" fmla="*/ 308965 h 6858000"/>
              <a:gd name="connsiteX163" fmla="*/ 845993 w 4684485"/>
              <a:gd name="connsiteY163" fmla="*/ 306550 h 6858000"/>
              <a:gd name="connsiteX164" fmla="*/ 843235 w 4684485"/>
              <a:gd name="connsiteY164" fmla="*/ 294989 h 6858000"/>
              <a:gd name="connsiteX165" fmla="*/ 838338 w 4684485"/>
              <a:gd name="connsiteY165" fmla="*/ 294091 h 6858000"/>
              <a:gd name="connsiteX166" fmla="*/ 831233 w 4684485"/>
              <a:gd name="connsiteY166" fmla="*/ 278384 h 6858000"/>
              <a:gd name="connsiteX167" fmla="*/ 827302 w 4684485"/>
              <a:gd name="connsiteY167" fmla="*/ 256451 h 6858000"/>
              <a:gd name="connsiteX168" fmla="*/ 813243 w 4684485"/>
              <a:gd name="connsiteY168" fmla="*/ 149697 h 6858000"/>
              <a:gd name="connsiteX169" fmla="*/ 802194 w 4684485"/>
              <a:gd name="connsiteY169" fmla="*/ 87262 h 6858000"/>
              <a:gd name="connsiteX170" fmla="*/ 793857 w 4684485"/>
              <a:gd name="connsiteY170" fmla="*/ 65797 h 6858000"/>
              <a:gd name="connsiteX171" fmla="*/ 784997 w 4684485"/>
              <a:gd name="connsiteY171" fmla="*/ 34307 h 6858000"/>
              <a:gd name="connsiteX172" fmla="*/ 779935 w 4684485"/>
              <a:gd name="connsiteY172" fmla="*/ 48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</a:cxnLst>
            <a:rect l="l" t="t" r="r" b="b"/>
            <a:pathLst>
              <a:path w="4684485" h="6858000">
                <a:moveTo>
                  <a:pt x="777179" y="0"/>
                </a:moveTo>
                <a:lnTo>
                  <a:pt x="4177011" y="0"/>
                </a:lnTo>
                <a:lnTo>
                  <a:pt x="4684485" y="0"/>
                </a:lnTo>
                <a:lnTo>
                  <a:pt x="4684485" y="6858000"/>
                </a:lnTo>
                <a:lnTo>
                  <a:pt x="4177011" y="6858000"/>
                </a:lnTo>
                <a:lnTo>
                  <a:pt x="0" y="6858000"/>
                </a:lnTo>
                <a:lnTo>
                  <a:pt x="2140" y="6853227"/>
                </a:lnTo>
                <a:cubicBezTo>
                  <a:pt x="3281" y="6849731"/>
                  <a:pt x="3730" y="6846319"/>
                  <a:pt x="2645" y="6843360"/>
                </a:cubicBezTo>
                <a:cubicBezTo>
                  <a:pt x="-1457" y="6834900"/>
                  <a:pt x="3713" y="6827141"/>
                  <a:pt x="5504" y="6818176"/>
                </a:cubicBezTo>
                <a:cubicBezTo>
                  <a:pt x="3050" y="6806465"/>
                  <a:pt x="16593" y="6767806"/>
                  <a:pt x="23629" y="6757651"/>
                </a:cubicBezTo>
                <a:cubicBezTo>
                  <a:pt x="46419" y="6733254"/>
                  <a:pt x="40510" y="6694311"/>
                  <a:pt x="58208" y="6674068"/>
                </a:cubicBezTo>
                <a:cubicBezTo>
                  <a:pt x="61460" y="6666791"/>
                  <a:pt x="93888" y="6617787"/>
                  <a:pt x="95020" y="6610847"/>
                </a:cubicBezTo>
                <a:cubicBezTo>
                  <a:pt x="95329" y="6606382"/>
                  <a:pt x="65160" y="6628588"/>
                  <a:pt x="65470" y="6624123"/>
                </a:cubicBezTo>
                <a:lnTo>
                  <a:pt x="137286" y="6588010"/>
                </a:lnTo>
                <a:cubicBezTo>
                  <a:pt x="171356" y="6534981"/>
                  <a:pt x="150244" y="6574447"/>
                  <a:pt x="180635" y="6495275"/>
                </a:cubicBezTo>
                <a:cubicBezTo>
                  <a:pt x="184961" y="6455862"/>
                  <a:pt x="200717" y="6462169"/>
                  <a:pt x="205042" y="6422756"/>
                </a:cubicBezTo>
                <a:lnTo>
                  <a:pt x="209632" y="6358596"/>
                </a:lnTo>
                <a:cubicBezTo>
                  <a:pt x="217454" y="6337402"/>
                  <a:pt x="219904" y="6319757"/>
                  <a:pt x="219796" y="6294314"/>
                </a:cubicBezTo>
                <a:cubicBezTo>
                  <a:pt x="223275" y="6292658"/>
                  <a:pt x="245431" y="6251901"/>
                  <a:pt x="248261" y="6248557"/>
                </a:cubicBezTo>
                <a:lnTo>
                  <a:pt x="286066" y="5959276"/>
                </a:lnTo>
                <a:lnTo>
                  <a:pt x="285981" y="5957154"/>
                </a:lnTo>
                <a:cubicBezTo>
                  <a:pt x="287183" y="5948783"/>
                  <a:pt x="289201" y="5944462"/>
                  <a:pt x="291575" y="5941942"/>
                </a:cubicBezTo>
                <a:lnTo>
                  <a:pt x="294764" y="5940122"/>
                </a:lnTo>
                <a:lnTo>
                  <a:pt x="299218" y="5930161"/>
                </a:lnTo>
                <a:lnTo>
                  <a:pt x="309655" y="5911810"/>
                </a:lnTo>
                <a:cubicBezTo>
                  <a:pt x="309786" y="5910267"/>
                  <a:pt x="309917" y="5908724"/>
                  <a:pt x="310049" y="5907181"/>
                </a:cubicBezTo>
                <a:lnTo>
                  <a:pt x="323362" y="5877642"/>
                </a:lnTo>
                <a:lnTo>
                  <a:pt x="322807" y="5876666"/>
                </a:lnTo>
                <a:cubicBezTo>
                  <a:pt x="321866" y="5873807"/>
                  <a:pt x="321742" y="5870426"/>
                  <a:pt x="323332" y="5865860"/>
                </a:cubicBezTo>
                <a:cubicBezTo>
                  <a:pt x="310067" y="5864546"/>
                  <a:pt x="320164" y="5859849"/>
                  <a:pt x="326018" y="5846502"/>
                </a:cubicBezTo>
                <a:cubicBezTo>
                  <a:pt x="306722" y="5841482"/>
                  <a:pt x="329895" y="5808593"/>
                  <a:pt x="323071" y="5794837"/>
                </a:cubicBezTo>
                <a:cubicBezTo>
                  <a:pt x="327809" y="5785143"/>
                  <a:pt x="332465" y="5774803"/>
                  <a:pt x="336871" y="5763977"/>
                </a:cubicBezTo>
                <a:lnTo>
                  <a:pt x="339251" y="5757443"/>
                </a:lnTo>
                <a:cubicBezTo>
                  <a:pt x="339213" y="5757354"/>
                  <a:pt x="339174" y="5757264"/>
                  <a:pt x="339135" y="5757177"/>
                </a:cubicBezTo>
                <a:cubicBezTo>
                  <a:pt x="339301" y="5755471"/>
                  <a:pt x="339953" y="5753215"/>
                  <a:pt x="341319" y="5750018"/>
                </a:cubicBezTo>
                <a:lnTo>
                  <a:pt x="343592" y="5745527"/>
                </a:lnTo>
                <a:lnTo>
                  <a:pt x="348207" y="5732850"/>
                </a:lnTo>
                <a:lnTo>
                  <a:pt x="348708" y="5727596"/>
                </a:lnTo>
                <a:cubicBezTo>
                  <a:pt x="346803" y="5707845"/>
                  <a:pt x="319974" y="5705139"/>
                  <a:pt x="339704" y="5678917"/>
                </a:cubicBezTo>
                <a:cubicBezTo>
                  <a:pt x="344844" y="5643142"/>
                  <a:pt x="334094" y="5620409"/>
                  <a:pt x="349027" y="5587240"/>
                </a:cubicBezTo>
                <a:cubicBezTo>
                  <a:pt x="353779" y="5553747"/>
                  <a:pt x="352180" y="5524869"/>
                  <a:pt x="360744" y="5496420"/>
                </a:cubicBezTo>
                <a:cubicBezTo>
                  <a:pt x="357816" y="5485007"/>
                  <a:pt x="357580" y="5474190"/>
                  <a:pt x="366191" y="5463512"/>
                </a:cubicBezTo>
                <a:cubicBezTo>
                  <a:pt x="368617" y="5432296"/>
                  <a:pt x="359761" y="5424946"/>
                  <a:pt x="370586" y="5404966"/>
                </a:cubicBezTo>
                <a:cubicBezTo>
                  <a:pt x="357075" y="5387753"/>
                  <a:pt x="363410" y="5386579"/>
                  <a:pt x="369304" y="5378223"/>
                </a:cubicBezTo>
                <a:lnTo>
                  <a:pt x="369813" y="5377039"/>
                </a:lnTo>
                <a:lnTo>
                  <a:pt x="367865" y="5374688"/>
                </a:lnTo>
                <a:lnTo>
                  <a:pt x="367550" y="5369744"/>
                </a:lnTo>
                <a:lnTo>
                  <a:pt x="370308" y="5356163"/>
                </a:lnTo>
                <a:lnTo>
                  <a:pt x="371942" y="5351044"/>
                </a:lnTo>
                <a:cubicBezTo>
                  <a:pt x="372844" y="5347522"/>
                  <a:pt x="373159" y="5345186"/>
                  <a:pt x="373062" y="5343580"/>
                </a:cubicBezTo>
                <a:lnTo>
                  <a:pt x="372900" y="5343400"/>
                </a:lnTo>
                <a:lnTo>
                  <a:pt x="374322" y="5336400"/>
                </a:lnTo>
                <a:cubicBezTo>
                  <a:pt x="377154" y="5324579"/>
                  <a:pt x="380322" y="5313068"/>
                  <a:pt x="383674" y="5302100"/>
                </a:cubicBezTo>
                <a:cubicBezTo>
                  <a:pt x="374454" y="5293093"/>
                  <a:pt x="393159" y="5252439"/>
                  <a:pt x="372456" y="5257295"/>
                </a:cubicBezTo>
                <a:cubicBezTo>
                  <a:pt x="376384" y="5242513"/>
                  <a:pt x="386060" y="5233419"/>
                  <a:pt x="372166" y="5238668"/>
                </a:cubicBezTo>
                <a:cubicBezTo>
                  <a:pt x="373081" y="5233812"/>
                  <a:pt x="372419" y="5230846"/>
                  <a:pt x="370995" y="5228745"/>
                </a:cubicBezTo>
                <a:lnTo>
                  <a:pt x="370266" y="5228139"/>
                </a:lnTo>
                <a:lnTo>
                  <a:pt x="379329" y="5195257"/>
                </a:lnTo>
                <a:cubicBezTo>
                  <a:pt x="379221" y="5193813"/>
                  <a:pt x="379112" y="5192368"/>
                  <a:pt x="379004" y="5190924"/>
                </a:cubicBezTo>
                <a:lnTo>
                  <a:pt x="386868" y="5169448"/>
                </a:lnTo>
                <a:lnTo>
                  <a:pt x="389886" y="5158375"/>
                </a:lnTo>
                <a:lnTo>
                  <a:pt x="392889" y="5155200"/>
                </a:lnTo>
                <a:cubicBezTo>
                  <a:pt x="394939" y="5151797"/>
                  <a:pt x="396337" y="5146953"/>
                  <a:pt x="396254" y="5138880"/>
                </a:cubicBezTo>
                <a:lnTo>
                  <a:pt x="395829" y="5137025"/>
                </a:lnTo>
                <a:lnTo>
                  <a:pt x="401622" y="5123497"/>
                </a:lnTo>
                <a:cubicBezTo>
                  <a:pt x="404011" y="5119132"/>
                  <a:pt x="406797" y="5115249"/>
                  <a:pt x="410123" y="5112085"/>
                </a:cubicBezTo>
                <a:cubicBezTo>
                  <a:pt x="401845" y="5066649"/>
                  <a:pt x="422378" y="5023157"/>
                  <a:pt x="427310" y="4973536"/>
                </a:cubicBezTo>
                <a:cubicBezTo>
                  <a:pt x="406855" y="4952575"/>
                  <a:pt x="448983" y="4866095"/>
                  <a:pt x="473870" y="4853262"/>
                </a:cubicBezTo>
                <a:lnTo>
                  <a:pt x="523687" y="4579511"/>
                </a:lnTo>
                <a:cubicBezTo>
                  <a:pt x="509490" y="4381498"/>
                  <a:pt x="587159" y="4246010"/>
                  <a:pt x="596846" y="4088638"/>
                </a:cubicBezTo>
                <a:lnTo>
                  <a:pt x="609911" y="3862564"/>
                </a:lnTo>
                <a:lnTo>
                  <a:pt x="620392" y="3821134"/>
                </a:lnTo>
                <a:lnTo>
                  <a:pt x="626965" y="3810557"/>
                </a:lnTo>
                <a:cubicBezTo>
                  <a:pt x="636965" y="3784810"/>
                  <a:pt x="638626" y="3750427"/>
                  <a:pt x="652536" y="3736429"/>
                </a:cubicBezTo>
                <a:cubicBezTo>
                  <a:pt x="656116" y="3729433"/>
                  <a:pt x="658396" y="3722498"/>
                  <a:pt x="659855" y="3715640"/>
                </a:cubicBezTo>
                <a:lnTo>
                  <a:pt x="662133" y="3696308"/>
                </a:lnTo>
                <a:lnTo>
                  <a:pt x="659163" y="3690549"/>
                </a:lnTo>
                <a:lnTo>
                  <a:pt x="662546" y="3678883"/>
                </a:lnTo>
                <a:cubicBezTo>
                  <a:pt x="662566" y="3677746"/>
                  <a:pt x="662586" y="3676608"/>
                  <a:pt x="662606" y="3675471"/>
                </a:cubicBezTo>
                <a:cubicBezTo>
                  <a:pt x="662702" y="3668955"/>
                  <a:pt x="662942" y="3662537"/>
                  <a:pt x="663794" y="3656229"/>
                </a:cubicBezTo>
                <a:cubicBezTo>
                  <a:pt x="682544" y="3665951"/>
                  <a:pt x="674158" y="3604159"/>
                  <a:pt x="687156" y="3622733"/>
                </a:cubicBezTo>
                <a:cubicBezTo>
                  <a:pt x="695117" y="3589752"/>
                  <a:pt x="705402" y="3616082"/>
                  <a:pt x="698770" y="3575278"/>
                </a:cubicBezTo>
                <a:cubicBezTo>
                  <a:pt x="711484" y="3533630"/>
                  <a:pt x="737978" y="3434596"/>
                  <a:pt x="763441" y="3372843"/>
                </a:cubicBezTo>
                <a:cubicBezTo>
                  <a:pt x="777128" y="3339410"/>
                  <a:pt x="829603" y="3254706"/>
                  <a:pt x="851549" y="3204760"/>
                </a:cubicBezTo>
                <a:cubicBezTo>
                  <a:pt x="866093" y="3156938"/>
                  <a:pt x="892854" y="3124249"/>
                  <a:pt x="895113" y="3073177"/>
                </a:cubicBezTo>
                <a:cubicBezTo>
                  <a:pt x="898645" y="3071841"/>
                  <a:pt x="901857" y="3069468"/>
                  <a:pt x="904829" y="3066373"/>
                </a:cubicBezTo>
                <a:lnTo>
                  <a:pt x="912657" y="3053733"/>
                </a:lnTo>
                <a:lnTo>
                  <a:pt x="922201" y="3037464"/>
                </a:lnTo>
                <a:lnTo>
                  <a:pt x="927105" y="3027885"/>
                </a:lnTo>
                <a:lnTo>
                  <a:pt x="938351" y="3010448"/>
                </a:lnTo>
                <a:cubicBezTo>
                  <a:pt x="938557" y="3008912"/>
                  <a:pt x="938762" y="3007377"/>
                  <a:pt x="938967" y="3005842"/>
                </a:cubicBezTo>
                <a:lnTo>
                  <a:pt x="953615" y="2977449"/>
                </a:lnTo>
                <a:lnTo>
                  <a:pt x="953111" y="2976418"/>
                </a:lnTo>
                <a:cubicBezTo>
                  <a:pt x="952317" y="2973463"/>
                  <a:pt x="952357" y="2970061"/>
                  <a:pt x="954155" y="2965627"/>
                </a:cubicBezTo>
                <a:cubicBezTo>
                  <a:pt x="941057" y="2963075"/>
                  <a:pt x="951306" y="2959302"/>
                  <a:pt x="957765" y="2946457"/>
                </a:cubicBezTo>
                <a:cubicBezTo>
                  <a:pt x="938860" y="2939627"/>
                  <a:pt x="963453" y="2908790"/>
                  <a:pt x="957350" y="2894353"/>
                </a:cubicBezTo>
                <a:cubicBezTo>
                  <a:pt x="962521" y="2885070"/>
                  <a:pt x="967644" y="2875128"/>
                  <a:pt x="972544" y="2864679"/>
                </a:cubicBezTo>
                <a:lnTo>
                  <a:pt x="975222" y="2858346"/>
                </a:lnTo>
                <a:cubicBezTo>
                  <a:pt x="975187" y="2858255"/>
                  <a:pt x="975153" y="2858162"/>
                  <a:pt x="975121" y="2858070"/>
                </a:cubicBezTo>
                <a:cubicBezTo>
                  <a:pt x="975369" y="2856375"/>
                  <a:pt x="976124" y="2854172"/>
                  <a:pt x="977634" y="2851093"/>
                </a:cubicBezTo>
                <a:lnTo>
                  <a:pt x="980107" y="2846800"/>
                </a:lnTo>
                <a:lnTo>
                  <a:pt x="985305" y="2834510"/>
                </a:lnTo>
                <a:lnTo>
                  <a:pt x="986057" y="2829288"/>
                </a:lnTo>
                <a:lnTo>
                  <a:pt x="984861" y="2825781"/>
                </a:lnTo>
                <a:lnTo>
                  <a:pt x="985547" y="2824862"/>
                </a:lnTo>
                <a:cubicBezTo>
                  <a:pt x="992373" y="2819689"/>
                  <a:pt x="998095" y="2822099"/>
                  <a:pt x="989979" y="2796846"/>
                </a:cubicBezTo>
                <a:cubicBezTo>
                  <a:pt x="1003477" y="2782617"/>
                  <a:pt x="997345" y="2770079"/>
                  <a:pt x="1005909" y="2739609"/>
                </a:cubicBezTo>
                <a:cubicBezTo>
                  <a:pt x="1015566" y="2733617"/>
                  <a:pt x="1017603" y="2722445"/>
                  <a:pt x="1017437" y="2709132"/>
                </a:cubicBezTo>
                <a:cubicBezTo>
                  <a:pt x="1030735" y="2684981"/>
                  <a:pt x="1035337" y="2654605"/>
                  <a:pt x="1046385" y="2623133"/>
                </a:cubicBezTo>
                <a:cubicBezTo>
                  <a:pt x="1066167" y="2597793"/>
                  <a:pt x="1061585" y="2568478"/>
                  <a:pt x="1073441" y="2534899"/>
                </a:cubicBezTo>
                <a:cubicBezTo>
                  <a:pt x="1095930" y="2519375"/>
                  <a:pt x="1073297" y="2501344"/>
                  <a:pt x="1075743" y="2480106"/>
                </a:cubicBezTo>
                <a:lnTo>
                  <a:pt x="1077265" y="2475030"/>
                </a:lnTo>
                <a:lnTo>
                  <a:pt x="1083883" y="2464722"/>
                </a:lnTo>
                <a:lnTo>
                  <a:pt x="1086777" y="2461434"/>
                </a:lnTo>
                <a:lnTo>
                  <a:pt x="1087126" y="2460806"/>
                </a:lnTo>
                <a:cubicBezTo>
                  <a:pt x="1087111" y="2460688"/>
                  <a:pt x="1087097" y="2460571"/>
                  <a:pt x="1087083" y="2460453"/>
                </a:cubicBezTo>
                <a:cubicBezTo>
                  <a:pt x="1084575" y="2448776"/>
                  <a:pt x="1081813" y="2438504"/>
                  <a:pt x="1090877" y="2442912"/>
                </a:cubicBezTo>
                <a:cubicBezTo>
                  <a:pt x="1086411" y="2408943"/>
                  <a:pt x="1104841" y="2426247"/>
                  <a:pt x="1084594" y="2393943"/>
                </a:cubicBezTo>
                <a:cubicBezTo>
                  <a:pt x="1081331" y="2349474"/>
                  <a:pt x="1094117" y="2215455"/>
                  <a:pt x="1095187" y="2145620"/>
                </a:cubicBezTo>
                <a:cubicBezTo>
                  <a:pt x="1095677" y="2107869"/>
                  <a:pt x="1088933" y="2032209"/>
                  <a:pt x="1091005" y="1974931"/>
                </a:cubicBezTo>
                <a:cubicBezTo>
                  <a:pt x="1090143" y="1920771"/>
                  <a:pt x="1089637" y="1848695"/>
                  <a:pt x="1090021" y="1820662"/>
                </a:cubicBezTo>
                <a:lnTo>
                  <a:pt x="1095393" y="1784755"/>
                </a:lnTo>
                <a:lnTo>
                  <a:pt x="1100337" y="1751246"/>
                </a:lnTo>
                <a:lnTo>
                  <a:pt x="1099270" y="1746792"/>
                </a:lnTo>
                <a:lnTo>
                  <a:pt x="1102388" y="1712948"/>
                </a:lnTo>
                <a:lnTo>
                  <a:pt x="1101575" y="1712332"/>
                </a:lnTo>
                <a:cubicBezTo>
                  <a:pt x="1099829" y="1710177"/>
                  <a:pt x="1098671" y="1707132"/>
                  <a:pt x="1098721" y="1702136"/>
                </a:cubicBezTo>
                <a:cubicBezTo>
                  <a:pt x="1086125" y="1707597"/>
                  <a:pt x="1093953" y="1698203"/>
                  <a:pt x="1095215" y="1682992"/>
                </a:cubicBezTo>
                <a:cubicBezTo>
                  <a:pt x="1075930" y="1688080"/>
                  <a:pt x="1087074" y="1646201"/>
                  <a:pt x="1076555" y="1636988"/>
                </a:cubicBezTo>
                <a:cubicBezTo>
                  <a:pt x="1077915" y="1625697"/>
                  <a:pt x="1079003" y="1613851"/>
                  <a:pt x="1079711" y="1601685"/>
                </a:cubicBezTo>
                <a:cubicBezTo>
                  <a:pt x="1079767" y="1599285"/>
                  <a:pt x="1079824" y="1596884"/>
                  <a:pt x="1079881" y="1594484"/>
                </a:cubicBezTo>
                <a:lnTo>
                  <a:pt x="1079691" y="1594298"/>
                </a:lnTo>
                <a:cubicBezTo>
                  <a:pt x="1079319" y="1592646"/>
                  <a:pt x="1079221" y="1590246"/>
                  <a:pt x="1079489" y="1586621"/>
                </a:cubicBezTo>
                <a:lnTo>
                  <a:pt x="1080191" y="1581350"/>
                </a:lnTo>
                <a:lnTo>
                  <a:pt x="1080520" y="1567378"/>
                </a:lnTo>
                <a:lnTo>
                  <a:pt x="1079357" y="1562296"/>
                </a:lnTo>
                <a:cubicBezTo>
                  <a:pt x="1071509" y="1545100"/>
                  <a:pt x="1046015" y="1556102"/>
                  <a:pt x="1056053" y="1522084"/>
                </a:cubicBezTo>
                <a:cubicBezTo>
                  <a:pt x="1045144" y="1480164"/>
                  <a:pt x="1023259" y="1355336"/>
                  <a:pt x="1013893" y="1310783"/>
                </a:cubicBezTo>
                <a:cubicBezTo>
                  <a:pt x="1006486" y="1280872"/>
                  <a:pt x="996077" y="1278569"/>
                  <a:pt x="999857" y="1254761"/>
                </a:cubicBezTo>
                <a:lnTo>
                  <a:pt x="988009" y="1228301"/>
                </a:lnTo>
                <a:lnTo>
                  <a:pt x="986193" y="1223915"/>
                </a:lnTo>
                <a:lnTo>
                  <a:pt x="984535" y="1210047"/>
                </a:lnTo>
                <a:cubicBezTo>
                  <a:pt x="984508" y="1208205"/>
                  <a:pt x="984482" y="1206362"/>
                  <a:pt x="984455" y="1204520"/>
                </a:cubicBezTo>
                <a:cubicBezTo>
                  <a:pt x="984199" y="1200829"/>
                  <a:pt x="983767" y="1198525"/>
                  <a:pt x="983181" y="1197097"/>
                </a:cubicBezTo>
                <a:lnTo>
                  <a:pt x="982976" y="1197013"/>
                </a:lnTo>
                <a:lnTo>
                  <a:pt x="982123" y="1189862"/>
                </a:lnTo>
                <a:cubicBezTo>
                  <a:pt x="981075" y="1177574"/>
                  <a:pt x="980434" y="1165401"/>
                  <a:pt x="980128" y="1153636"/>
                </a:cubicBezTo>
                <a:cubicBezTo>
                  <a:pt x="968875" y="1149994"/>
                  <a:pt x="973513" y="1103222"/>
                  <a:pt x="955984" y="1118095"/>
                </a:cubicBezTo>
                <a:cubicBezTo>
                  <a:pt x="955031" y="1102534"/>
                  <a:pt x="961117" y="1089311"/>
                  <a:pt x="949966" y="1101120"/>
                </a:cubicBezTo>
                <a:cubicBezTo>
                  <a:pt x="949310" y="1096198"/>
                  <a:pt x="947785" y="1093805"/>
                  <a:pt x="945827" y="1092587"/>
                </a:cubicBezTo>
                <a:lnTo>
                  <a:pt x="944973" y="1092398"/>
                </a:lnTo>
                <a:lnTo>
                  <a:pt x="941512" y="1053799"/>
                </a:lnTo>
                <a:lnTo>
                  <a:pt x="943245" y="1013984"/>
                </a:lnTo>
                <a:cubicBezTo>
                  <a:pt x="944079" y="1009826"/>
                  <a:pt x="943867" y="1004670"/>
                  <a:pt x="941298" y="997293"/>
                </a:cubicBezTo>
                <a:lnTo>
                  <a:pt x="940335" y="995801"/>
                </a:lnTo>
                <a:lnTo>
                  <a:pt x="941482" y="980455"/>
                </a:lnTo>
                <a:cubicBezTo>
                  <a:pt x="942330" y="975240"/>
                  <a:pt x="943693" y="970273"/>
                  <a:pt x="945774" y="965691"/>
                </a:cubicBezTo>
                <a:cubicBezTo>
                  <a:pt x="924137" y="928094"/>
                  <a:pt x="929581" y="877796"/>
                  <a:pt x="918795" y="829709"/>
                </a:cubicBezTo>
                <a:cubicBezTo>
                  <a:pt x="912678" y="772490"/>
                  <a:pt x="913929" y="659638"/>
                  <a:pt x="909069" y="622375"/>
                </a:cubicBezTo>
                <a:cubicBezTo>
                  <a:pt x="900232" y="553358"/>
                  <a:pt x="900977" y="494184"/>
                  <a:pt x="891618" y="452257"/>
                </a:cubicBezTo>
                <a:cubicBezTo>
                  <a:pt x="867903" y="430960"/>
                  <a:pt x="861934" y="401830"/>
                  <a:pt x="852916" y="370816"/>
                </a:cubicBezTo>
                <a:cubicBezTo>
                  <a:pt x="871317" y="370167"/>
                  <a:pt x="836666" y="336199"/>
                  <a:pt x="855402" y="323482"/>
                </a:cubicBezTo>
                <a:cubicBezTo>
                  <a:pt x="853168" y="318240"/>
                  <a:pt x="850412" y="313564"/>
                  <a:pt x="847506" y="308965"/>
                </a:cubicBezTo>
                <a:lnTo>
                  <a:pt x="845993" y="306550"/>
                </a:lnTo>
                <a:lnTo>
                  <a:pt x="843235" y="294989"/>
                </a:lnTo>
                <a:lnTo>
                  <a:pt x="838338" y="294091"/>
                </a:lnTo>
                <a:lnTo>
                  <a:pt x="831233" y="278384"/>
                </a:lnTo>
                <a:cubicBezTo>
                  <a:pt x="829208" y="272138"/>
                  <a:pt x="827774" y="264987"/>
                  <a:pt x="827302" y="256451"/>
                </a:cubicBezTo>
                <a:cubicBezTo>
                  <a:pt x="832901" y="224346"/>
                  <a:pt x="805328" y="189791"/>
                  <a:pt x="813243" y="149697"/>
                </a:cubicBezTo>
                <a:cubicBezTo>
                  <a:pt x="814580" y="135373"/>
                  <a:pt x="809093" y="93596"/>
                  <a:pt x="802194" y="87262"/>
                </a:cubicBezTo>
                <a:cubicBezTo>
                  <a:pt x="799842" y="78874"/>
                  <a:pt x="800701" y="68127"/>
                  <a:pt x="793857" y="65797"/>
                </a:cubicBezTo>
                <a:cubicBezTo>
                  <a:pt x="785399" y="61181"/>
                  <a:pt x="793487" y="27544"/>
                  <a:pt x="784997" y="34307"/>
                </a:cubicBezTo>
                <a:cubicBezTo>
                  <a:pt x="787721" y="22402"/>
                  <a:pt x="784554" y="13224"/>
                  <a:pt x="779935" y="488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DB1C2D05-1CC6-4CA8-8ABA-47A0B72FB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18342" y="689132"/>
            <a:ext cx="4423012" cy="5464529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38100" dist="12700" dir="3000000" algn="tl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7B6C4B-7561-7CF1-35A7-5C1EB89340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10443"/>
          <a:stretch>
            <a:fillRect/>
          </a:stretch>
        </p:blipFill>
        <p:spPr>
          <a:xfrm>
            <a:off x="7279209" y="852697"/>
            <a:ext cx="1999306" cy="25129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5FEC5B-9ADF-CAA9-A6C0-766E2564CC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" b="10443"/>
          <a:stretch>
            <a:fillRect/>
          </a:stretch>
        </p:blipFill>
        <p:spPr>
          <a:xfrm>
            <a:off x="9381178" y="852697"/>
            <a:ext cx="1999307" cy="25129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5DAEE2-CE10-DA9C-9437-9C7E9FD488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2" b="9648"/>
          <a:stretch>
            <a:fillRect/>
          </a:stretch>
        </p:blipFill>
        <p:spPr>
          <a:xfrm>
            <a:off x="7279209" y="3469192"/>
            <a:ext cx="1999306" cy="25352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58F540-6A03-E666-B3D9-311D14A57FD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2" b="9648"/>
          <a:stretch>
            <a:fillRect/>
          </a:stretch>
        </p:blipFill>
        <p:spPr>
          <a:xfrm>
            <a:off x="9381178" y="3469192"/>
            <a:ext cx="1999307" cy="2535291"/>
          </a:xfrm>
          <a:prstGeom prst="rect">
            <a:avLst/>
          </a:prstGeom>
        </p:spPr>
      </p:pic>
      <p:sp>
        <p:nvSpPr>
          <p:cNvPr id="133" name="Rectangle 6">
            <a:extLst>
              <a:ext uri="{FF2B5EF4-FFF2-40B4-BE49-F238E27FC236}">
                <a16:creationId xmlns:a16="http://schemas.microsoft.com/office/drawing/2014/main" id="{27BC8104-FC8A-47CA-B1D7-85D302DC1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8599" y="6085688"/>
            <a:ext cx="1177396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325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3D Hologram from iPad">
            <a:extLst>
              <a:ext uri="{FF2B5EF4-FFF2-40B4-BE49-F238E27FC236}">
                <a16:creationId xmlns:a16="http://schemas.microsoft.com/office/drawing/2014/main" id="{B66995D4-7A6B-72F9-A66F-E41EA5D9CD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79" b="845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00C4FC-DA0A-2061-7469-38B3549C5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How the Model Performs?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9511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025EFD5-738C-41B9-87FE-0C00E211B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9D3C5A1-C712-C011-3C0D-C8AA2D79E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" contrast="-25000"/>
                    </a14:imgEffect>
                  </a14:imgLayer>
                </a14:imgProps>
              </a:ext>
            </a:extLst>
          </a:blip>
          <a:srcRect l="7700" r="17183" b="8"/>
          <a:stretch>
            <a:fillRect/>
          </a:stretch>
        </p:blipFill>
        <p:spPr>
          <a:xfrm>
            <a:off x="700133" y="1409525"/>
            <a:ext cx="6532959" cy="4020658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35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D0DF7C-0F26-B9FD-3E6B-70D7F9C78179}"/>
              </a:ext>
            </a:extLst>
          </p:cNvPr>
          <p:cNvSpPr txBox="1"/>
          <p:nvPr/>
        </p:nvSpPr>
        <p:spPr>
          <a:xfrm>
            <a:off x="539004" y="2096161"/>
            <a:ext cx="6518519" cy="29854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ctr">
              <a:spcAft>
                <a:spcPts val="600"/>
              </a:spcAft>
              <a:buFont typeface="Arial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27 of 37 correct on real clinic scans </a:t>
            </a:r>
          </a:p>
          <a:p>
            <a:pPr marL="285750" indent="-285750" algn="ctr">
              <a:spcAft>
                <a:spcPts val="600"/>
              </a:spcAft>
              <a:buFont typeface="Arial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342900" indent="-342900" algn="ctr">
              <a:spcAft>
                <a:spcPts val="600"/>
              </a:spcAft>
              <a:buFont typeface="Arial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CNV, DME and Normal are all classified accurately </a:t>
            </a:r>
          </a:p>
          <a:p>
            <a:pPr marL="342900" indent="-342900" algn="ctr">
              <a:spcAft>
                <a:spcPts val="600"/>
              </a:spcAft>
              <a:buFont typeface="Arial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342900" indent="-342900" algn="ctr">
              <a:spcAft>
                <a:spcPts val="600"/>
              </a:spcAft>
              <a:buFont typeface="Arial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12 out of 22 of DRUSEN scan correctly classified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4123372-BA8E-17AD-FEAA-0EAF89D390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7830783"/>
              </p:ext>
            </p:extLst>
          </p:nvPr>
        </p:nvGraphicFramePr>
        <p:xfrm>
          <a:off x="7825499" y="754584"/>
          <a:ext cx="3061675" cy="53002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29054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E7CD7B-ABE3-54FC-AF70-FBCE2F3D8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934" y="1435160"/>
            <a:ext cx="4616434" cy="3808558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2E9B2EE-76CA-47F3-9977-3F2FCB7FD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739239"/>
            <a:ext cx="0" cy="32004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5117963-D7A6-CB66-34AE-488B296DB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33" y="1734008"/>
            <a:ext cx="4687659" cy="365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337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aph on document with pen">
            <a:extLst>
              <a:ext uri="{FF2B5EF4-FFF2-40B4-BE49-F238E27FC236}">
                <a16:creationId xmlns:a16="http://schemas.microsoft.com/office/drawing/2014/main" id="{4DCBB0F9-F5A8-4C52-3B56-E5EE1E4900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84" r="-1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627944-4F5F-32AB-834F-325725120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5402" y="743447"/>
            <a:ext cx="344576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b="1" dirty="0"/>
              <a:t>Error Analysis</a:t>
            </a:r>
          </a:p>
        </p:txBody>
      </p:sp>
    </p:spTree>
    <p:extLst>
      <p:ext uri="{BB962C8B-B14F-4D97-AF65-F5344CB8AC3E}">
        <p14:creationId xmlns:p14="http://schemas.microsoft.com/office/powerpoint/2010/main" val="4254623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AE84F0-FC96-F2C3-132E-87E7BC599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500"/>
              <a:t>Confidence Gap of 22 DRUSEN Scans</a:t>
            </a:r>
            <a:br>
              <a:rPr lang="en-US" sz="2500"/>
            </a:br>
            <a:endParaRPr lang="en-US" sz="2500"/>
          </a:p>
          <a:p>
            <a:endParaRPr lang="en-US" sz="250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B8379AB-2024-1A51-1CF1-D632DEDEDEA7}"/>
              </a:ext>
            </a:extLst>
          </p:cNvPr>
          <p:cNvSpPr txBox="1"/>
          <p:nvPr/>
        </p:nvSpPr>
        <p:spPr>
          <a:xfrm>
            <a:off x="1055715" y="3241350"/>
            <a:ext cx="5040285" cy="289924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7 scans misread as a healthy retina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3 misread as a different disease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69F0F96-FF09-26B0-551D-2517D96EE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762" y="205959"/>
            <a:ext cx="5869987" cy="3214616"/>
          </a:xfrm>
          <a:prstGeom prst="rect">
            <a:avLst/>
          </a:prstGeom>
        </p:spPr>
      </p:pic>
      <p:pic>
        <p:nvPicPr>
          <p:cNvPr id="38" name="Picture 37" descr="A collage of images of a patient&amp;#39;s brain&#10;&#10;AI-generated content may be incorrect.">
            <a:extLst>
              <a:ext uri="{FF2B5EF4-FFF2-40B4-BE49-F238E27FC236}">
                <a16:creationId xmlns:a16="http://schemas.microsoft.com/office/drawing/2014/main" id="{39B8E79A-905D-93A0-22B2-62C51632E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762" y="3425970"/>
            <a:ext cx="5869987" cy="322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110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E8863C-6C4F-1680-C709-175A01C180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" r="-2" b="-2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78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EB84055-029C-4E86-8844-D05D96C02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8A2842C0-6210-4FDB-B1FF-C14C92737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799037F2-4CAF-446B-90DB-1480B247A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128589C-AF3D-49CF-BD92-C1D1D2F53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5844" y="1110000"/>
            <a:ext cx="10195740" cy="4629235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9720D-3667-D121-254C-14018D33DF98}"/>
              </a:ext>
            </a:extLst>
          </p:cNvPr>
          <p:cNvSpPr txBox="1"/>
          <p:nvPr/>
        </p:nvSpPr>
        <p:spPr>
          <a:xfrm>
            <a:off x="1136104" y="1583563"/>
            <a:ext cx="2490217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The Corpus</a:t>
            </a:r>
            <a:r>
              <a:rPr lang="en-US" dirty="0"/>
              <a:t> 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Collected 508 open-access ophthalmology articles from PubMed Central, keeping only reusable (CC-BY) licenses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9982A8-3F15-7C5A-2DF8-4710793FD99C}"/>
              </a:ext>
            </a:extLst>
          </p:cNvPr>
          <p:cNvSpPr txBox="1"/>
          <p:nvPr/>
        </p:nvSpPr>
        <p:spPr>
          <a:xfrm>
            <a:off x="3628082" y="1582388"/>
            <a:ext cx="2787152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2.   Chunking</a:t>
            </a:r>
          </a:p>
          <a:p>
            <a:r>
              <a:rPr lang="en-US" dirty="0">
                <a:ea typeface="+mn-lt"/>
                <a:cs typeface="+mn-lt"/>
              </a:rPr>
              <a:t>Split those articles into searchable passages, testing three strategies as fixed, section, semantic.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Finding fixed-length chunks that will work best.</a:t>
            </a:r>
            <a:endParaRPr lang="en-US"/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9F06F8-FC7C-D4B6-86D5-F59F510A74F9}"/>
              </a:ext>
            </a:extLst>
          </p:cNvPr>
          <p:cNvSpPr txBox="1"/>
          <p:nvPr/>
        </p:nvSpPr>
        <p:spPr>
          <a:xfrm>
            <a:off x="6726551" y="1589137"/>
            <a:ext cx="236903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3. Retrieval</a:t>
            </a:r>
          </a:p>
          <a:p>
            <a:r>
              <a:rPr lang="en-US" dirty="0"/>
              <a:t>Built a hybrid search combining exact keyword matching and meaning based matching and a </a:t>
            </a:r>
            <a:r>
              <a:rPr lang="en-US" dirty="0" err="1"/>
              <a:t>reranker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76696B-7C3A-9471-3EF0-DCF9F1879670}"/>
              </a:ext>
            </a:extLst>
          </p:cNvPr>
          <p:cNvSpPr txBox="1"/>
          <p:nvPr/>
        </p:nvSpPr>
        <p:spPr>
          <a:xfrm>
            <a:off x="9092653" y="1587964"/>
            <a:ext cx="2218220" cy="20169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4. Answering</a:t>
            </a:r>
          </a:p>
          <a:p>
            <a:r>
              <a:rPr lang="en-US" dirty="0"/>
              <a:t>Generated the final response by having the model answer only from </a:t>
            </a:r>
            <a:r>
              <a:rPr lang="en-US" dirty="0" err="1"/>
              <a:t>retrived</a:t>
            </a:r>
            <a:r>
              <a:rPr lang="en-US" dirty="0"/>
              <a:t> passages and cite them. </a:t>
            </a:r>
          </a:p>
        </p:txBody>
      </p:sp>
    </p:spTree>
    <p:extLst>
      <p:ext uri="{BB962C8B-B14F-4D97-AF65-F5344CB8AC3E}">
        <p14:creationId xmlns:p14="http://schemas.microsoft.com/office/powerpoint/2010/main" val="306014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3DAD86CA-8235-409B-982B-5E7A033E2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F234FBA-3501-47B4-AE0C-AA4AFBC8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5EF893B-0491-416E-9D33-BADE96007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69F4FF8-F8B0-4630-BA1B-0D8B324CD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FD2CA07-0E3C-2A73-2A33-3C914C0EB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181" y="668835"/>
            <a:ext cx="9649679" cy="9206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dirty="0">
                <a:ea typeface="+mj-lt"/>
                <a:cs typeface="+mj-lt"/>
              </a:rPr>
              <a:t>Clinical Guardrails implementation</a:t>
            </a:r>
          </a:p>
        </p:txBody>
      </p:sp>
      <p:graphicFrame>
        <p:nvGraphicFramePr>
          <p:cNvPr id="29" name="TextBox 3">
            <a:extLst>
              <a:ext uri="{FF2B5EF4-FFF2-40B4-BE49-F238E27FC236}">
                <a16:creationId xmlns:a16="http://schemas.microsoft.com/office/drawing/2014/main" id="{1E715925-7F89-18C4-85BD-462EBA7C8B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0623846"/>
              </p:ext>
            </p:extLst>
          </p:nvPr>
        </p:nvGraphicFramePr>
        <p:xfrm>
          <a:off x="1939275" y="1266300"/>
          <a:ext cx="8025038" cy="46836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7994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76B691-6AA2-B149-2A87-BE3B55DB7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098" y="164804"/>
            <a:ext cx="3269017" cy="307190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Ocular Scan AI </a:t>
            </a:r>
            <a:r>
              <a:rPr lang="en-US" sz="3600" dirty="0">
                <a:solidFill>
                  <a:srgbClr val="FFFFFF"/>
                </a:solidFill>
              </a:rPr>
              <a:t>Interface</a:t>
            </a:r>
            <a:endParaRPr lang="en-US" sz="3600" dirty="0">
              <a:ea typeface="+mj-ea"/>
              <a:cs typeface="+mj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8221786-B460-39E5-25DA-96CE5CBB09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48363" y="-7244"/>
            <a:ext cx="7933877" cy="68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685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DD31942-FA10-BB7B-5FFC-566393CB6F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5216" b="82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692A1-61A3-C2E7-8B25-D83545F43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Thank You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7967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An Explainable AI and Retrieval-Augmented Assistant for OCT-Based Retinal Disease Decision Support</vt:lpstr>
      <vt:lpstr>What is an OCT  B-scan? </vt:lpstr>
      <vt:lpstr>PowerPoint Presentation</vt:lpstr>
      <vt:lpstr>Model Selection </vt:lpstr>
      <vt:lpstr>Data Pre-processing </vt:lpstr>
      <vt:lpstr>Where the model looks: Grad-CAM</vt:lpstr>
      <vt:lpstr>How the Model Performs?</vt:lpstr>
      <vt:lpstr>PowerPoint Presentation</vt:lpstr>
      <vt:lpstr>PowerPoint Presentation</vt:lpstr>
      <vt:lpstr>Error Analysis</vt:lpstr>
      <vt:lpstr>Confidence Gap of 22 DRUSEN Scans  </vt:lpstr>
      <vt:lpstr>PowerPoint Presentation</vt:lpstr>
      <vt:lpstr>PowerPoint Presentation</vt:lpstr>
      <vt:lpstr>Clinical Guardrails implementation</vt:lpstr>
      <vt:lpstr>Ocular Scan AI Interface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862</cp:revision>
  <dcterms:created xsi:type="dcterms:W3CDTF">2013-07-15T20:26:40Z</dcterms:created>
  <dcterms:modified xsi:type="dcterms:W3CDTF">2026-09-06T03:41:56Z</dcterms:modified>
</cp:coreProperties>
</file>